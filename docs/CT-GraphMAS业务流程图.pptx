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7561580" cy="10688955"/>
  <p:notesSz cx="6858000" cy="9144000"/>
  <p:defaultTextStyle>
    <a:defPPr>
      <a:defRPr lang="en-US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347345" y="97155"/>
            <a:ext cx="6866890" cy="10419715"/>
          </a:xfrm>
          <a:prstGeom prst="rect">
            <a:avLst/>
          </a:prstGeom>
          <a:noFill/>
          <a:ln w="12700">
            <a:solidFill>
              <a:srgbClr val="111111"/>
            </a:solidFill>
          </a:ln>
        </p:spPr>
        <p:txBody>
          <a:bodyPr/>
          <a:lstStyle/>
          <a:p/>
        </p:txBody>
      </p:sp>
      <p:cxnSp>
        <p:nvCxnSpPr>
          <p:cNvPr id="3" name="Line 3"/>
          <p:cNvCxnSpPr/>
          <p:nvPr/>
        </p:nvCxnSpPr>
        <p:spPr>
          <a:xfrm>
            <a:off x="347472" y="691388"/>
            <a:ext cx="6867144" cy="1"/>
          </a:xfrm>
          <a:prstGeom prst="line">
            <a:avLst/>
          </a:prstGeom>
          <a:ln w="11430">
            <a:solidFill>
              <a:srgbClr val="111111"/>
            </a:solidFill>
          </a:ln>
        </p:spPr>
      </p:cxnSp>
      <p:cxnSp>
        <p:nvCxnSpPr>
          <p:cNvPr id="4" name="Line 4"/>
          <p:cNvCxnSpPr/>
          <p:nvPr/>
        </p:nvCxnSpPr>
        <p:spPr>
          <a:xfrm>
            <a:off x="347472" y="1157732"/>
            <a:ext cx="6867144" cy="1"/>
          </a:xfrm>
          <a:prstGeom prst="line">
            <a:avLst/>
          </a:prstGeom>
          <a:ln w="11430">
            <a:solidFill>
              <a:srgbClr val="111111"/>
            </a:solidFill>
          </a:ln>
        </p:spPr>
      </p:cxnSp>
      <p:cxnSp>
        <p:nvCxnSpPr>
          <p:cNvPr id="5" name="Line 5"/>
          <p:cNvCxnSpPr/>
          <p:nvPr/>
        </p:nvCxnSpPr>
        <p:spPr>
          <a:xfrm flipH="1">
            <a:off x="2628900" y="691388"/>
            <a:ext cx="7620" cy="9838055"/>
          </a:xfrm>
          <a:prstGeom prst="line">
            <a:avLst/>
          </a:prstGeom>
          <a:ln w="11430">
            <a:solidFill>
              <a:srgbClr val="111111"/>
            </a:solidFill>
          </a:ln>
        </p:spPr>
      </p:cxnSp>
      <p:cxnSp>
        <p:nvCxnSpPr>
          <p:cNvPr id="6" name="Line 6"/>
          <p:cNvCxnSpPr/>
          <p:nvPr/>
        </p:nvCxnSpPr>
        <p:spPr>
          <a:xfrm>
            <a:off x="4925568" y="691388"/>
            <a:ext cx="7620" cy="9838055"/>
          </a:xfrm>
          <a:prstGeom prst="line">
            <a:avLst/>
          </a:prstGeom>
          <a:ln w="11430">
            <a:solidFill>
              <a:srgbClr val="111111"/>
            </a:solidFill>
          </a:ln>
        </p:spPr>
      </p:cxnSp>
      <p:sp>
        <p:nvSpPr>
          <p:cNvPr id="7" name="Text 7"/>
          <p:cNvSpPr txBox="1"/>
          <p:nvPr/>
        </p:nvSpPr>
        <p:spPr>
          <a:xfrm>
            <a:off x="347472" y="206756"/>
            <a:ext cx="6867144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200" b="1">
                <a:solidFill>
                  <a:srgbClr val="111111"/>
                </a:solidFill>
                <a:latin typeface="Arial" panose="020B0604020202090204"/>
              </a:rPr>
              <a:t>CT-GraphMAS 系统业务流程图</a:t>
            </a:r>
            <a:endParaRPr lang="en-US" sz="1200" b="1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8" name="Text 8"/>
          <p:cNvSpPr txBox="1"/>
          <p:nvPr/>
        </p:nvSpPr>
        <p:spPr>
          <a:xfrm>
            <a:off x="347472" y="810260"/>
            <a:ext cx="2289048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000" b="1">
                <a:solidFill>
                  <a:srgbClr val="111111"/>
                </a:solidFill>
                <a:latin typeface="Arial" panose="020B0604020202090204"/>
              </a:rPr>
              <a:t>管理员</a:t>
            </a:r>
            <a:endParaRPr lang="en-US" sz="1000" b="1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9" name="Text 9"/>
          <p:cNvSpPr txBox="1"/>
          <p:nvPr/>
        </p:nvSpPr>
        <p:spPr>
          <a:xfrm>
            <a:off x="2636520" y="810260"/>
            <a:ext cx="2289048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000" b="1">
                <a:solidFill>
                  <a:srgbClr val="111111"/>
                </a:solidFill>
                <a:latin typeface="Arial" panose="020B0604020202090204"/>
              </a:rPr>
              <a:t>学生</a:t>
            </a:r>
            <a:endParaRPr lang="en-US" sz="1000" b="1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10" name="Text 10"/>
          <p:cNvSpPr txBox="1"/>
          <p:nvPr/>
        </p:nvSpPr>
        <p:spPr>
          <a:xfrm>
            <a:off x="4925568" y="810260"/>
            <a:ext cx="2289048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000" b="1">
                <a:solidFill>
                  <a:srgbClr val="111111"/>
                </a:solidFill>
                <a:latin typeface="Arial" panose="020B0604020202090204"/>
              </a:rPr>
              <a:t>教师</a:t>
            </a:r>
            <a:endParaRPr lang="en-US" sz="1000" b="1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11" name="Shape 11"/>
          <p:cNvSpPr/>
          <p:nvPr/>
        </p:nvSpPr>
        <p:spPr>
          <a:xfrm>
            <a:off x="768096" y="1486916"/>
            <a:ext cx="1444752" cy="402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</p:spPr>
        <p:txBody>
          <a:bodyPr/>
          <a:lstStyle/>
          <a:p/>
        </p:txBody>
      </p:sp>
      <p:sp>
        <p:nvSpPr>
          <p:cNvPr id="12" name="Text 12"/>
          <p:cNvSpPr txBox="1"/>
          <p:nvPr/>
        </p:nvSpPr>
        <p:spPr>
          <a:xfrm>
            <a:off x="804672" y="1541780"/>
            <a:ext cx="137160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800">
                <a:solidFill>
                  <a:srgbClr val="111111"/>
                </a:solidFill>
                <a:latin typeface="Arial" panose="020B0604020202090204"/>
              </a:rPr>
              <a:t>开始</a:t>
            </a:r>
            <a:endParaRPr lang="en-US" sz="80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13" name="Shape 13"/>
          <p:cNvSpPr/>
          <p:nvPr/>
        </p:nvSpPr>
        <p:spPr>
          <a:xfrm>
            <a:off x="768096" y="2200148"/>
            <a:ext cx="1444752" cy="420624"/>
          </a:xfrm>
          <a:prstGeom prst="parallelogram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</p:spPr>
        <p:txBody>
          <a:bodyPr/>
          <a:lstStyle/>
          <a:p/>
        </p:txBody>
      </p:sp>
      <p:sp>
        <p:nvSpPr>
          <p:cNvPr id="14" name="Text 14"/>
          <p:cNvSpPr txBox="1"/>
          <p:nvPr/>
        </p:nvSpPr>
        <p:spPr>
          <a:xfrm>
            <a:off x="804672" y="2255012"/>
            <a:ext cx="13716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800">
                <a:solidFill>
                  <a:srgbClr val="111111"/>
                </a:solidFill>
                <a:latin typeface="Arial" panose="020B0604020202090204"/>
              </a:rPr>
              <a:t>输入管理员</a:t>
            </a:r>
            <a:endParaRPr lang="en-US" sz="800">
              <a:solidFill>
                <a:srgbClr val="111111"/>
              </a:solidFill>
              <a:latin typeface="Arial" panose="020B0604020202090204"/>
            </a:endParaRPr>
          </a:p>
          <a:p>
            <a:pPr algn="ctr"/>
            <a:r>
              <a:rPr lang="en-US" sz="800">
                <a:solidFill>
                  <a:srgbClr val="111111"/>
                </a:solidFill>
                <a:latin typeface="Arial" panose="020B0604020202090204"/>
              </a:rPr>
              <a:t>账号密码</a:t>
            </a:r>
            <a:endParaRPr lang="en-US" sz="80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15" name="Shape 15"/>
          <p:cNvSpPr/>
          <p:nvPr/>
        </p:nvSpPr>
        <p:spPr>
          <a:xfrm>
            <a:off x="896112" y="2913380"/>
            <a:ext cx="1188720" cy="530352"/>
          </a:xfrm>
          <a:prstGeom prst="diamond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</p:spPr>
        <p:txBody>
          <a:bodyPr/>
          <a:lstStyle/>
          <a:p/>
        </p:txBody>
      </p:sp>
      <p:sp>
        <p:nvSpPr>
          <p:cNvPr id="16" name="Text 16"/>
          <p:cNvSpPr txBox="1"/>
          <p:nvPr/>
        </p:nvSpPr>
        <p:spPr>
          <a:xfrm>
            <a:off x="932688" y="2968244"/>
            <a:ext cx="1115568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800">
                <a:solidFill>
                  <a:srgbClr val="111111"/>
                </a:solidFill>
                <a:latin typeface="Arial" panose="020B0604020202090204"/>
              </a:rPr>
              <a:t>账号密码</a:t>
            </a:r>
            <a:endParaRPr lang="en-US" sz="800">
              <a:solidFill>
                <a:srgbClr val="111111"/>
              </a:solidFill>
              <a:latin typeface="Arial" panose="020B0604020202090204"/>
            </a:endParaRPr>
          </a:p>
          <a:p>
            <a:pPr algn="ctr"/>
            <a:r>
              <a:rPr lang="en-US" sz="800">
                <a:solidFill>
                  <a:srgbClr val="111111"/>
                </a:solidFill>
                <a:latin typeface="Arial" panose="020B0604020202090204"/>
              </a:rPr>
              <a:t>是否正确</a:t>
            </a:r>
            <a:endParaRPr lang="en-US" sz="80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17" name="Shape 17"/>
          <p:cNvSpPr/>
          <p:nvPr/>
        </p:nvSpPr>
        <p:spPr>
          <a:xfrm>
            <a:off x="768096" y="3681476"/>
            <a:ext cx="144475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</p:spPr>
        <p:txBody>
          <a:bodyPr/>
          <a:lstStyle/>
          <a:p/>
        </p:txBody>
      </p:sp>
      <p:sp>
        <p:nvSpPr>
          <p:cNvPr id="18" name="Text 18"/>
          <p:cNvSpPr txBox="1"/>
          <p:nvPr/>
        </p:nvSpPr>
        <p:spPr>
          <a:xfrm>
            <a:off x="804672" y="373634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800">
                <a:solidFill>
                  <a:srgbClr val="111111"/>
                </a:solidFill>
                <a:latin typeface="Arial" panose="020B0604020202090204"/>
              </a:rPr>
              <a:t>维护用户角色</a:t>
            </a:r>
            <a:endParaRPr lang="en-US" sz="800">
              <a:solidFill>
                <a:srgbClr val="111111"/>
              </a:solidFill>
              <a:latin typeface="Arial" panose="020B0604020202090204"/>
            </a:endParaRPr>
          </a:p>
          <a:p>
            <a:pPr algn="ctr"/>
            <a:r>
              <a:rPr lang="en-US" sz="800">
                <a:solidFill>
                  <a:srgbClr val="111111"/>
                </a:solidFill>
                <a:latin typeface="Arial" panose="020B0604020202090204"/>
              </a:rPr>
              <a:t>与班级信息</a:t>
            </a:r>
            <a:endParaRPr lang="en-US" sz="80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19" name="Shape 19"/>
          <p:cNvSpPr/>
          <p:nvPr/>
        </p:nvSpPr>
        <p:spPr>
          <a:xfrm>
            <a:off x="768096" y="5185156"/>
            <a:ext cx="144475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</p:spPr>
        <p:txBody>
          <a:bodyPr/>
          <a:lstStyle/>
          <a:p/>
        </p:txBody>
      </p:sp>
      <p:sp>
        <p:nvSpPr>
          <p:cNvPr id="20" name="Text 20"/>
          <p:cNvSpPr txBox="1"/>
          <p:nvPr/>
        </p:nvSpPr>
        <p:spPr>
          <a:xfrm>
            <a:off x="804672" y="5240020"/>
            <a:ext cx="137160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800">
                <a:solidFill>
                  <a:srgbClr val="111111"/>
                </a:solidFill>
                <a:latin typeface="Arial" panose="020B0604020202090204"/>
              </a:rPr>
              <a:t>配置 API</a:t>
            </a:r>
            <a:endParaRPr lang="en-US" sz="800">
              <a:solidFill>
                <a:srgbClr val="111111"/>
              </a:solidFill>
              <a:latin typeface="Arial" panose="020B0604020202090204"/>
            </a:endParaRPr>
          </a:p>
          <a:p>
            <a:pPr algn="ctr"/>
            <a:r>
              <a:rPr lang="en-US" sz="800">
                <a:solidFill>
                  <a:srgbClr val="111111"/>
                </a:solidFill>
                <a:latin typeface="Arial" panose="020B0604020202090204"/>
              </a:rPr>
              <a:t>与多智能体策略</a:t>
            </a:r>
            <a:endParaRPr lang="en-US" sz="80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21" name="Shape 21"/>
          <p:cNvSpPr/>
          <p:nvPr/>
        </p:nvSpPr>
        <p:spPr>
          <a:xfrm>
            <a:off x="768096" y="5989828"/>
            <a:ext cx="1444752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</p:spPr>
        <p:txBody>
          <a:bodyPr/>
          <a:lstStyle/>
          <a:p/>
        </p:txBody>
      </p:sp>
      <p:sp>
        <p:nvSpPr>
          <p:cNvPr id="22" name="Text 22"/>
          <p:cNvSpPr txBox="1"/>
          <p:nvPr/>
        </p:nvSpPr>
        <p:spPr>
          <a:xfrm>
            <a:off x="804672" y="6044692"/>
            <a:ext cx="137160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800">
                <a:solidFill>
                  <a:srgbClr val="111111"/>
                </a:solidFill>
                <a:latin typeface="Arial" panose="020B0604020202090204"/>
              </a:rPr>
              <a:t>维护 145 节点</a:t>
            </a:r>
            <a:endParaRPr lang="en-US" sz="800">
              <a:solidFill>
                <a:srgbClr val="111111"/>
              </a:solidFill>
              <a:latin typeface="Arial" panose="020B0604020202090204"/>
            </a:endParaRPr>
          </a:p>
          <a:p>
            <a:pPr algn="ctr"/>
            <a:r>
              <a:rPr lang="en-US" sz="800">
                <a:solidFill>
                  <a:srgbClr val="111111"/>
                </a:solidFill>
                <a:latin typeface="Arial" panose="020B0604020202090204"/>
              </a:rPr>
              <a:t>知识图谱</a:t>
            </a:r>
            <a:endParaRPr lang="en-US" sz="80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28" name="Text 28"/>
          <p:cNvSpPr txBox="1"/>
          <p:nvPr/>
        </p:nvSpPr>
        <p:spPr>
          <a:xfrm>
            <a:off x="804672" y="6858508"/>
            <a:ext cx="137160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800">
                <a:solidFill>
                  <a:srgbClr val="111111"/>
                </a:solidFill>
                <a:latin typeface="Arial" panose="020B0604020202090204"/>
              </a:rPr>
              <a:t>系统配置</a:t>
            </a:r>
            <a:r>
              <a:rPr lang="zh-CN" altLang="en-US" sz="800">
                <a:solidFill>
                  <a:srgbClr val="111111"/>
                </a:solidFill>
                <a:latin typeface="Arial" panose="020B0604020202090204"/>
              </a:rPr>
              <a:t>信息</a:t>
            </a:r>
            <a:endParaRPr lang="zh-CN" altLang="en-US" sz="800">
              <a:solidFill>
                <a:srgbClr val="111111"/>
              </a:solidFill>
              <a:latin typeface="Arial" panose="020B0604020202090204"/>
            </a:endParaRPr>
          </a:p>
        </p:txBody>
      </p:sp>
      <p:cxnSp>
        <p:nvCxnSpPr>
          <p:cNvPr id="29" name="Line 29"/>
          <p:cNvCxnSpPr/>
          <p:nvPr/>
        </p:nvCxnSpPr>
        <p:spPr>
          <a:xfrm>
            <a:off x="1490472" y="1889252"/>
            <a:ext cx="1" cy="310896"/>
          </a:xfrm>
          <a:prstGeom prst="line">
            <a:avLst/>
          </a:prstGeom>
          <a:ln w="11430">
            <a:solidFill>
              <a:srgbClr val="111111"/>
            </a:solidFill>
            <a:tailEnd type="triangle"/>
          </a:ln>
        </p:spPr>
      </p:cxnSp>
      <p:cxnSp>
        <p:nvCxnSpPr>
          <p:cNvPr id="30" name="Line 30"/>
          <p:cNvCxnSpPr/>
          <p:nvPr/>
        </p:nvCxnSpPr>
        <p:spPr>
          <a:xfrm>
            <a:off x="1490472" y="2620772"/>
            <a:ext cx="1" cy="292608"/>
          </a:xfrm>
          <a:prstGeom prst="line">
            <a:avLst/>
          </a:prstGeom>
          <a:ln w="11430">
            <a:solidFill>
              <a:srgbClr val="111111"/>
            </a:solidFill>
            <a:tailEnd type="triangle"/>
          </a:ln>
        </p:spPr>
      </p:cxnSp>
      <p:cxnSp>
        <p:nvCxnSpPr>
          <p:cNvPr id="31" name="Line 31"/>
          <p:cNvCxnSpPr/>
          <p:nvPr/>
        </p:nvCxnSpPr>
        <p:spPr>
          <a:xfrm>
            <a:off x="1490472" y="3443732"/>
            <a:ext cx="1" cy="237744"/>
          </a:xfrm>
          <a:prstGeom prst="line">
            <a:avLst/>
          </a:prstGeom>
          <a:ln w="11430">
            <a:solidFill>
              <a:srgbClr val="111111"/>
            </a:solidFill>
            <a:tailEnd type="triangle"/>
          </a:ln>
        </p:spPr>
      </p:cxnSp>
      <p:cxnSp>
        <p:nvCxnSpPr>
          <p:cNvPr id="32" name="Line 32"/>
          <p:cNvCxnSpPr/>
          <p:nvPr/>
        </p:nvCxnSpPr>
        <p:spPr>
          <a:xfrm>
            <a:off x="1490472" y="4120388"/>
            <a:ext cx="1" cy="292608"/>
          </a:xfrm>
          <a:prstGeom prst="line">
            <a:avLst/>
          </a:prstGeom>
          <a:ln w="11430">
            <a:solidFill>
              <a:srgbClr val="111111"/>
            </a:solidFill>
            <a:tailEnd type="triangle"/>
          </a:ln>
        </p:spPr>
      </p:cxnSp>
      <p:cxnSp>
        <p:nvCxnSpPr>
          <p:cNvPr id="33" name="Line 33"/>
          <p:cNvCxnSpPr/>
          <p:nvPr/>
        </p:nvCxnSpPr>
        <p:spPr>
          <a:xfrm>
            <a:off x="1490472" y="5660644"/>
            <a:ext cx="1" cy="329184"/>
          </a:xfrm>
          <a:prstGeom prst="line">
            <a:avLst/>
          </a:prstGeom>
          <a:ln w="11430">
            <a:solidFill>
              <a:srgbClr val="111111"/>
            </a:solidFill>
            <a:tailEnd type="triangle"/>
          </a:ln>
        </p:spPr>
      </p:cxnSp>
      <p:cxnSp>
        <p:nvCxnSpPr>
          <p:cNvPr id="34" name="Line 34"/>
          <p:cNvCxnSpPr/>
          <p:nvPr/>
        </p:nvCxnSpPr>
        <p:spPr>
          <a:xfrm>
            <a:off x="1490472" y="6501892"/>
            <a:ext cx="1" cy="310896"/>
          </a:xfrm>
          <a:prstGeom prst="line">
            <a:avLst/>
          </a:prstGeom>
          <a:ln w="11430">
            <a:solidFill>
              <a:srgbClr val="111111"/>
            </a:solidFill>
            <a:tailEnd type="triangle"/>
          </a:ln>
        </p:spPr>
      </p:cxnSp>
      <p:cxnSp>
        <p:nvCxnSpPr>
          <p:cNvPr id="35" name="Polyline 35"/>
          <p:cNvCxnSpPr>
            <a:stCxn id="15" idx="3"/>
          </p:cNvCxnSpPr>
          <p:nvPr/>
        </p:nvCxnSpPr>
        <p:spPr>
          <a:xfrm>
            <a:off x="2084578" y="3178556"/>
            <a:ext cx="329565" cy="0"/>
          </a:xfrm>
          <a:prstGeom prst="line">
            <a:avLst/>
          </a:prstGeom>
          <a:ln w="11430">
            <a:solidFill>
              <a:srgbClr val="111111"/>
            </a:solidFill>
          </a:ln>
        </p:spPr>
      </p:cxnSp>
      <p:cxnSp>
        <p:nvCxnSpPr>
          <p:cNvPr id="36" name="Polyline 36"/>
          <p:cNvCxnSpPr/>
          <p:nvPr/>
        </p:nvCxnSpPr>
        <p:spPr>
          <a:xfrm flipV="1">
            <a:off x="2414016" y="2410460"/>
            <a:ext cx="1" cy="768096"/>
          </a:xfrm>
          <a:prstGeom prst="line">
            <a:avLst/>
          </a:prstGeom>
          <a:ln w="11430">
            <a:solidFill>
              <a:srgbClr val="111111"/>
            </a:solidFill>
          </a:ln>
        </p:spPr>
      </p:cxnSp>
      <p:cxnSp>
        <p:nvCxnSpPr>
          <p:cNvPr id="37" name="Polyline 37"/>
          <p:cNvCxnSpPr/>
          <p:nvPr/>
        </p:nvCxnSpPr>
        <p:spPr>
          <a:xfrm>
            <a:off x="2916301" y="2320290"/>
            <a:ext cx="215900" cy="0"/>
          </a:xfrm>
          <a:prstGeom prst="line">
            <a:avLst/>
          </a:prstGeom>
          <a:ln w="11430">
            <a:solidFill>
              <a:srgbClr val="111111"/>
            </a:solidFill>
            <a:tailEnd type="triangle"/>
          </a:ln>
        </p:spPr>
      </p:cxnSp>
      <p:sp>
        <p:nvSpPr>
          <p:cNvPr id="38" name="Text 38"/>
          <p:cNvSpPr txBox="1"/>
          <p:nvPr/>
        </p:nvSpPr>
        <p:spPr>
          <a:xfrm>
            <a:off x="2072132" y="2748788"/>
            <a:ext cx="20116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750">
                <a:solidFill>
                  <a:srgbClr val="111111"/>
                </a:solidFill>
                <a:latin typeface="Arial" panose="020B0604020202090204"/>
              </a:rPr>
              <a:t>否</a:t>
            </a:r>
            <a:endParaRPr lang="en-US" sz="75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39" name="Text 39"/>
          <p:cNvSpPr txBox="1"/>
          <p:nvPr/>
        </p:nvSpPr>
        <p:spPr>
          <a:xfrm>
            <a:off x="1563624" y="3480308"/>
            <a:ext cx="20116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750">
                <a:solidFill>
                  <a:srgbClr val="111111"/>
                </a:solidFill>
                <a:latin typeface="Arial" panose="020B0604020202090204"/>
              </a:rPr>
              <a:t>是</a:t>
            </a:r>
            <a:endParaRPr lang="en-US" sz="75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40" name="Shape 40"/>
          <p:cNvSpPr/>
          <p:nvPr/>
        </p:nvSpPr>
        <p:spPr>
          <a:xfrm>
            <a:off x="3057144" y="2200148"/>
            <a:ext cx="1444752" cy="420624"/>
          </a:xfrm>
          <a:prstGeom prst="parallelogram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</p:spPr>
        <p:txBody>
          <a:bodyPr/>
          <a:lstStyle/>
          <a:p/>
        </p:txBody>
      </p:sp>
      <p:sp>
        <p:nvSpPr>
          <p:cNvPr id="41" name="Text 41"/>
          <p:cNvSpPr txBox="1"/>
          <p:nvPr/>
        </p:nvSpPr>
        <p:spPr>
          <a:xfrm>
            <a:off x="3093720" y="2255012"/>
            <a:ext cx="13716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800">
                <a:solidFill>
                  <a:srgbClr val="111111"/>
                </a:solidFill>
                <a:latin typeface="Arial" panose="020B0604020202090204"/>
              </a:rPr>
              <a:t>输入学生</a:t>
            </a:r>
            <a:endParaRPr lang="en-US" sz="800">
              <a:solidFill>
                <a:srgbClr val="111111"/>
              </a:solidFill>
              <a:latin typeface="Arial" panose="020B0604020202090204"/>
            </a:endParaRPr>
          </a:p>
          <a:p>
            <a:pPr algn="ctr"/>
            <a:r>
              <a:rPr lang="en-US" sz="800">
                <a:solidFill>
                  <a:srgbClr val="111111"/>
                </a:solidFill>
                <a:latin typeface="Arial" panose="020B0604020202090204"/>
              </a:rPr>
              <a:t>账号密码</a:t>
            </a:r>
            <a:endParaRPr lang="en-US" sz="80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42" name="Shape 42"/>
          <p:cNvSpPr/>
          <p:nvPr/>
        </p:nvSpPr>
        <p:spPr>
          <a:xfrm>
            <a:off x="3185160" y="2913380"/>
            <a:ext cx="1188720" cy="530352"/>
          </a:xfrm>
          <a:prstGeom prst="diamond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</p:spPr>
        <p:txBody>
          <a:bodyPr/>
          <a:lstStyle/>
          <a:p/>
        </p:txBody>
      </p:sp>
      <p:sp>
        <p:nvSpPr>
          <p:cNvPr id="43" name="Text 43"/>
          <p:cNvSpPr txBox="1"/>
          <p:nvPr/>
        </p:nvSpPr>
        <p:spPr>
          <a:xfrm>
            <a:off x="3221736" y="2968244"/>
            <a:ext cx="1115568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800">
                <a:solidFill>
                  <a:srgbClr val="111111"/>
                </a:solidFill>
                <a:latin typeface="Arial" panose="020B0604020202090204"/>
              </a:rPr>
              <a:t>账号密码</a:t>
            </a:r>
            <a:endParaRPr lang="en-US" sz="800">
              <a:solidFill>
                <a:srgbClr val="111111"/>
              </a:solidFill>
              <a:latin typeface="Arial" panose="020B0604020202090204"/>
            </a:endParaRPr>
          </a:p>
          <a:p>
            <a:pPr algn="ctr"/>
            <a:r>
              <a:rPr lang="en-US" sz="800">
                <a:solidFill>
                  <a:srgbClr val="111111"/>
                </a:solidFill>
                <a:latin typeface="Arial" panose="020B0604020202090204"/>
              </a:rPr>
              <a:t>是否正确</a:t>
            </a:r>
            <a:endParaRPr lang="en-US" sz="80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44" name="Shape 44"/>
          <p:cNvSpPr/>
          <p:nvPr/>
        </p:nvSpPr>
        <p:spPr>
          <a:xfrm>
            <a:off x="3057144" y="3681476"/>
            <a:ext cx="144475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</p:spPr>
        <p:txBody>
          <a:bodyPr/>
          <a:lstStyle/>
          <a:p/>
        </p:txBody>
      </p:sp>
      <p:sp>
        <p:nvSpPr>
          <p:cNvPr id="45" name="Text 45"/>
          <p:cNvSpPr txBox="1"/>
          <p:nvPr/>
        </p:nvSpPr>
        <p:spPr>
          <a:xfrm>
            <a:off x="3093720" y="373634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800">
                <a:solidFill>
                  <a:srgbClr val="111111"/>
                </a:solidFill>
                <a:latin typeface="Arial" panose="020B0604020202090204"/>
              </a:rPr>
              <a:t>登录进入</a:t>
            </a:r>
            <a:endParaRPr lang="en-US" sz="800">
              <a:solidFill>
                <a:srgbClr val="111111"/>
              </a:solidFill>
              <a:latin typeface="Arial" panose="020B0604020202090204"/>
            </a:endParaRPr>
          </a:p>
          <a:p>
            <a:pPr algn="ctr"/>
            <a:r>
              <a:rPr lang="en-US" sz="800">
                <a:solidFill>
                  <a:srgbClr val="111111"/>
                </a:solidFill>
                <a:latin typeface="Arial" panose="020B0604020202090204"/>
              </a:rPr>
              <a:t>学生端</a:t>
            </a:r>
            <a:endParaRPr lang="en-US" sz="80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51" name="Text 51"/>
          <p:cNvSpPr txBox="1"/>
          <p:nvPr/>
        </p:nvSpPr>
        <p:spPr>
          <a:xfrm>
            <a:off x="3056255" y="4481195"/>
            <a:ext cx="1448435" cy="34734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800">
                <a:solidFill>
                  <a:srgbClr val="111111"/>
                </a:solidFill>
                <a:latin typeface="Arial" panose="020B0604020202090204"/>
              </a:rPr>
              <a:t>班级任务</a:t>
            </a:r>
            <a:endParaRPr lang="en-US" sz="800">
              <a:solidFill>
                <a:srgbClr val="111111"/>
              </a:solidFill>
              <a:latin typeface="Arial" panose="020B0604020202090204"/>
            </a:endParaRPr>
          </a:p>
          <a:p>
            <a:pPr algn="ctr"/>
            <a:r>
              <a:rPr lang="en-US" sz="800">
                <a:solidFill>
                  <a:srgbClr val="111111"/>
                </a:solidFill>
                <a:latin typeface="Arial" panose="020B0604020202090204"/>
              </a:rPr>
              <a:t>与学习画像</a:t>
            </a:r>
            <a:endParaRPr lang="en-US" sz="80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52" name="Shape 52"/>
          <p:cNvSpPr/>
          <p:nvPr/>
        </p:nvSpPr>
        <p:spPr>
          <a:xfrm>
            <a:off x="3166872" y="5192268"/>
            <a:ext cx="1225296" cy="566928"/>
          </a:xfrm>
          <a:prstGeom prst="diamond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</p:spPr>
        <p:txBody>
          <a:bodyPr/>
          <a:lstStyle/>
          <a:p/>
        </p:txBody>
      </p:sp>
      <p:sp>
        <p:nvSpPr>
          <p:cNvPr id="53" name="Text 53"/>
          <p:cNvSpPr txBox="1"/>
          <p:nvPr/>
        </p:nvSpPr>
        <p:spPr>
          <a:xfrm>
            <a:off x="3203448" y="5247132"/>
            <a:ext cx="1152144" cy="4937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800">
                <a:solidFill>
                  <a:srgbClr val="111111"/>
                </a:solidFill>
                <a:latin typeface="Arial" panose="020B0604020202090204"/>
              </a:rPr>
              <a:t>选择日常通用</a:t>
            </a:r>
            <a:endParaRPr lang="en-US" sz="800">
              <a:solidFill>
                <a:srgbClr val="111111"/>
              </a:solidFill>
              <a:latin typeface="Arial" panose="020B0604020202090204"/>
            </a:endParaRPr>
          </a:p>
          <a:p>
            <a:pPr algn="ctr"/>
            <a:r>
              <a:rPr lang="en-US" sz="800">
                <a:solidFill>
                  <a:srgbClr val="111111"/>
                </a:solidFill>
                <a:latin typeface="Arial" panose="020B0604020202090204"/>
              </a:rPr>
              <a:t>或教学模式</a:t>
            </a:r>
            <a:endParaRPr lang="en-US" sz="80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54" name="Shape 54"/>
          <p:cNvSpPr/>
          <p:nvPr/>
        </p:nvSpPr>
        <p:spPr>
          <a:xfrm>
            <a:off x="3057144" y="6407658"/>
            <a:ext cx="1444752" cy="475488"/>
          </a:xfrm>
          <a:prstGeom prst="parallelogram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</p:spPr>
        <p:txBody>
          <a:bodyPr/>
          <a:lstStyle/>
          <a:p/>
        </p:txBody>
      </p:sp>
      <p:sp>
        <p:nvSpPr>
          <p:cNvPr id="55" name="Text 55"/>
          <p:cNvSpPr txBox="1"/>
          <p:nvPr/>
        </p:nvSpPr>
        <p:spPr>
          <a:xfrm>
            <a:off x="3093720" y="6462522"/>
            <a:ext cx="137160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800">
                <a:solidFill>
                  <a:srgbClr val="111111"/>
                </a:solidFill>
                <a:latin typeface="Arial" panose="020B0604020202090204"/>
              </a:rPr>
              <a:t>输入问题 / 代码</a:t>
            </a:r>
            <a:endParaRPr lang="en-US" sz="800">
              <a:solidFill>
                <a:srgbClr val="111111"/>
              </a:solidFill>
              <a:latin typeface="Arial" panose="020B0604020202090204"/>
            </a:endParaRPr>
          </a:p>
          <a:p>
            <a:pPr algn="ctr"/>
            <a:r>
              <a:rPr lang="en-US" sz="800">
                <a:solidFill>
                  <a:srgbClr val="111111"/>
                </a:solidFill>
                <a:latin typeface="Arial" panose="020B0604020202090204"/>
              </a:rPr>
              <a:t>或报错信息</a:t>
            </a:r>
            <a:endParaRPr lang="en-US" sz="80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56" name="Shape 56"/>
          <p:cNvSpPr/>
          <p:nvPr/>
        </p:nvSpPr>
        <p:spPr>
          <a:xfrm>
            <a:off x="3056890" y="7030720"/>
            <a:ext cx="1444625" cy="494665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</p:spPr>
        <p:txBody>
          <a:bodyPr/>
          <a:lstStyle/>
          <a:p/>
        </p:txBody>
      </p:sp>
      <p:sp>
        <p:nvSpPr>
          <p:cNvPr id="57" name="Text 57"/>
          <p:cNvSpPr txBox="1"/>
          <p:nvPr/>
        </p:nvSpPr>
        <p:spPr>
          <a:xfrm>
            <a:off x="3093720" y="7085965"/>
            <a:ext cx="1371600" cy="4146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800">
                <a:solidFill>
                  <a:srgbClr val="111111"/>
                </a:solidFill>
                <a:latin typeface="Arial" panose="020B0604020202090204"/>
              </a:rPr>
              <a:t>系统自动处理</a:t>
            </a:r>
            <a:endParaRPr lang="en-US" sz="800">
              <a:solidFill>
                <a:srgbClr val="111111"/>
              </a:solidFill>
              <a:latin typeface="Arial" panose="020B0604020202090204"/>
            </a:endParaRPr>
          </a:p>
          <a:p>
            <a:pPr algn="ctr"/>
            <a:r>
              <a:rPr lang="en-US" sz="800">
                <a:solidFill>
                  <a:srgbClr val="111111"/>
                </a:solidFill>
                <a:latin typeface="Arial" panose="020B0604020202090204"/>
              </a:rPr>
              <a:t>意图映射 + </a:t>
            </a:r>
            <a:r>
              <a:rPr lang="zh-CN" altLang="en-US" sz="800">
                <a:solidFill>
                  <a:srgbClr val="111111"/>
                </a:solidFill>
                <a:latin typeface="Arial" panose="020B0604020202090204"/>
              </a:rPr>
              <a:t>知识</a:t>
            </a:r>
            <a:r>
              <a:rPr lang="en-US" sz="800">
                <a:solidFill>
                  <a:srgbClr val="111111"/>
                </a:solidFill>
                <a:latin typeface="Arial" panose="020B0604020202090204"/>
              </a:rPr>
              <a:t>图谱+</a:t>
            </a:r>
            <a:r>
              <a:rPr lang="zh-CN" altLang="en-US" sz="800">
                <a:solidFill>
                  <a:srgbClr val="111111"/>
                </a:solidFill>
                <a:latin typeface="Arial" panose="020B0604020202090204"/>
              </a:rPr>
              <a:t>多智能体协作</a:t>
            </a:r>
            <a:endParaRPr lang="en-US" sz="80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63" name="Text 63"/>
          <p:cNvSpPr txBox="1"/>
          <p:nvPr/>
        </p:nvSpPr>
        <p:spPr>
          <a:xfrm>
            <a:off x="3093720" y="8224647"/>
            <a:ext cx="137160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altLang="en-US" sz="800">
                <a:solidFill>
                  <a:srgbClr val="111111"/>
                </a:solidFill>
                <a:latin typeface="Arial" panose="020B0604020202090204"/>
              </a:rPr>
              <a:t>交互</a:t>
            </a:r>
            <a:r>
              <a:rPr lang="zh-CN" altLang="en-US" sz="800">
                <a:solidFill>
                  <a:srgbClr val="111111"/>
                </a:solidFill>
                <a:latin typeface="Arial" panose="020B0604020202090204"/>
              </a:rPr>
              <a:t>反馈内容</a:t>
            </a:r>
            <a:r>
              <a:rPr lang="en-US" sz="800">
                <a:solidFill>
                  <a:srgbClr val="111111"/>
                </a:solidFill>
                <a:latin typeface="Arial" panose="020B0604020202090204"/>
              </a:rPr>
              <a:t>、相关知识</a:t>
            </a:r>
            <a:endParaRPr lang="en-US" sz="800">
              <a:solidFill>
                <a:srgbClr val="111111"/>
              </a:solidFill>
              <a:latin typeface="Arial" panose="020B0604020202090204"/>
            </a:endParaRPr>
          </a:p>
          <a:p>
            <a:pPr algn="ctr"/>
            <a:r>
              <a:rPr lang="en-US" sz="800">
                <a:solidFill>
                  <a:srgbClr val="111111"/>
                </a:solidFill>
                <a:latin typeface="Arial" panose="020B0604020202090204"/>
              </a:rPr>
              <a:t>与图谱节点</a:t>
            </a:r>
            <a:endParaRPr lang="en-US" sz="80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64" name="Shape 64"/>
          <p:cNvSpPr/>
          <p:nvPr/>
        </p:nvSpPr>
        <p:spPr>
          <a:xfrm>
            <a:off x="3185160" y="8820404"/>
            <a:ext cx="1188720" cy="530352"/>
          </a:xfrm>
          <a:prstGeom prst="diamond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</p:spPr>
        <p:txBody>
          <a:bodyPr/>
          <a:lstStyle/>
          <a:p/>
        </p:txBody>
      </p:sp>
      <p:sp>
        <p:nvSpPr>
          <p:cNvPr id="65" name="Text 65"/>
          <p:cNvSpPr txBox="1"/>
          <p:nvPr/>
        </p:nvSpPr>
        <p:spPr>
          <a:xfrm>
            <a:off x="3221736" y="8875268"/>
            <a:ext cx="1115568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800">
                <a:solidFill>
                  <a:srgbClr val="111111"/>
                </a:solidFill>
                <a:latin typeface="Arial" panose="020B0604020202090204"/>
              </a:rPr>
              <a:t>问题是否</a:t>
            </a:r>
            <a:endParaRPr lang="en-US" sz="800">
              <a:solidFill>
                <a:srgbClr val="111111"/>
              </a:solidFill>
              <a:latin typeface="Arial" panose="020B0604020202090204"/>
            </a:endParaRPr>
          </a:p>
          <a:p>
            <a:pPr algn="ctr"/>
            <a:r>
              <a:rPr lang="en-US" sz="800">
                <a:solidFill>
                  <a:srgbClr val="111111"/>
                </a:solidFill>
                <a:latin typeface="Arial" panose="020B0604020202090204"/>
              </a:rPr>
              <a:t>已解决</a:t>
            </a:r>
            <a:endParaRPr lang="en-US" sz="80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66" name="Shape 66"/>
          <p:cNvSpPr/>
          <p:nvPr/>
        </p:nvSpPr>
        <p:spPr>
          <a:xfrm>
            <a:off x="3057144" y="9423908"/>
            <a:ext cx="1444752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</p:spPr>
        <p:txBody>
          <a:bodyPr/>
          <a:lstStyle/>
          <a:p/>
        </p:txBody>
      </p:sp>
      <p:sp>
        <p:nvSpPr>
          <p:cNvPr id="67" name="Text 67"/>
          <p:cNvSpPr txBox="1"/>
          <p:nvPr/>
        </p:nvSpPr>
        <p:spPr>
          <a:xfrm>
            <a:off x="3093720" y="9478772"/>
            <a:ext cx="137160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800">
                <a:solidFill>
                  <a:srgbClr val="111111"/>
                </a:solidFill>
                <a:latin typeface="Arial" panose="020B0604020202090204"/>
              </a:rPr>
              <a:t>完成任务</a:t>
            </a:r>
            <a:endParaRPr lang="en-US" sz="800">
              <a:solidFill>
                <a:srgbClr val="111111"/>
              </a:solidFill>
              <a:latin typeface="Arial" panose="020B0604020202090204"/>
            </a:endParaRPr>
          </a:p>
          <a:p>
            <a:pPr algn="ctr"/>
            <a:r>
              <a:rPr lang="en-US" sz="800">
                <a:solidFill>
                  <a:srgbClr val="111111"/>
                </a:solidFill>
                <a:latin typeface="Arial" panose="020B0604020202090204"/>
              </a:rPr>
              <a:t>或继续练习</a:t>
            </a:r>
            <a:endParaRPr lang="en-US" sz="80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68" name="Shape 68"/>
          <p:cNvSpPr/>
          <p:nvPr/>
        </p:nvSpPr>
        <p:spPr>
          <a:xfrm>
            <a:off x="3057144" y="9954260"/>
            <a:ext cx="1444752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</p:spPr>
        <p:txBody>
          <a:bodyPr/>
          <a:lstStyle/>
          <a:p/>
        </p:txBody>
      </p:sp>
      <p:sp>
        <p:nvSpPr>
          <p:cNvPr id="69" name="Text 69"/>
          <p:cNvSpPr txBox="1"/>
          <p:nvPr/>
        </p:nvSpPr>
        <p:spPr>
          <a:xfrm>
            <a:off x="3093720" y="10009124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800">
                <a:solidFill>
                  <a:srgbClr val="111111"/>
                </a:solidFill>
                <a:latin typeface="Arial" panose="020B0604020202090204"/>
              </a:rPr>
              <a:t>结束</a:t>
            </a:r>
            <a:endParaRPr lang="en-US" sz="800">
              <a:solidFill>
                <a:srgbClr val="111111"/>
              </a:solidFill>
              <a:latin typeface="Arial" panose="020B0604020202090204"/>
            </a:endParaRPr>
          </a:p>
        </p:txBody>
      </p:sp>
      <p:cxnSp>
        <p:nvCxnSpPr>
          <p:cNvPr id="70" name="Line 70"/>
          <p:cNvCxnSpPr/>
          <p:nvPr/>
        </p:nvCxnSpPr>
        <p:spPr>
          <a:xfrm>
            <a:off x="3779520" y="2620772"/>
            <a:ext cx="1" cy="292608"/>
          </a:xfrm>
          <a:prstGeom prst="line">
            <a:avLst/>
          </a:prstGeom>
          <a:ln w="11430">
            <a:solidFill>
              <a:srgbClr val="111111"/>
            </a:solidFill>
            <a:tailEnd type="triangle"/>
          </a:ln>
        </p:spPr>
      </p:cxnSp>
      <p:cxnSp>
        <p:nvCxnSpPr>
          <p:cNvPr id="71" name="Line 71"/>
          <p:cNvCxnSpPr/>
          <p:nvPr/>
        </p:nvCxnSpPr>
        <p:spPr>
          <a:xfrm>
            <a:off x="3779520" y="3443732"/>
            <a:ext cx="1" cy="237744"/>
          </a:xfrm>
          <a:prstGeom prst="line">
            <a:avLst/>
          </a:prstGeom>
          <a:ln w="11430">
            <a:solidFill>
              <a:srgbClr val="111111"/>
            </a:solidFill>
            <a:tailEnd type="triangle"/>
          </a:ln>
        </p:spPr>
      </p:cxnSp>
      <p:cxnSp>
        <p:nvCxnSpPr>
          <p:cNvPr id="72" name="Line 72"/>
          <p:cNvCxnSpPr/>
          <p:nvPr/>
        </p:nvCxnSpPr>
        <p:spPr>
          <a:xfrm>
            <a:off x="3779520" y="4120388"/>
            <a:ext cx="1270" cy="287655"/>
          </a:xfrm>
          <a:prstGeom prst="line">
            <a:avLst/>
          </a:prstGeom>
          <a:ln w="11430">
            <a:solidFill>
              <a:srgbClr val="111111"/>
            </a:solidFill>
            <a:tailEnd type="triangle"/>
          </a:ln>
        </p:spPr>
      </p:cxnSp>
      <p:cxnSp>
        <p:nvCxnSpPr>
          <p:cNvPr id="73" name="Line 73"/>
          <p:cNvCxnSpPr>
            <a:stCxn id="146" idx="2"/>
          </p:cNvCxnSpPr>
          <p:nvPr/>
        </p:nvCxnSpPr>
        <p:spPr>
          <a:xfrm flipH="1">
            <a:off x="3779520" y="4895850"/>
            <a:ext cx="3810" cy="296545"/>
          </a:xfrm>
          <a:prstGeom prst="line">
            <a:avLst/>
          </a:prstGeom>
          <a:ln w="11430">
            <a:solidFill>
              <a:srgbClr val="111111"/>
            </a:solidFill>
            <a:tailEnd type="triangle"/>
          </a:ln>
        </p:spPr>
      </p:cxnSp>
      <p:cxnSp>
        <p:nvCxnSpPr>
          <p:cNvPr id="75" name="Line 75"/>
          <p:cNvCxnSpPr>
            <a:stCxn id="54" idx="4"/>
            <a:endCxn id="56" idx="0"/>
          </p:cNvCxnSpPr>
          <p:nvPr/>
        </p:nvCxnSpPr>
        <p:spPr>
          <a:xfrm>
            <a:off x="3779520" y="6883146"/>
            <a:ext cx="0" cy="147320"/>
          </a:xfrm>
          <a:prstGeom prst="line">
            <a:avLst/>
          </a:prstGeom>
          <a:ln w="11430">
            <a:solidFill>
              <a:srgbClr val="111111"/>
            </a:solidFill>
            <a:tailEnd type="triangle"/>
          </a:ln>
        </p:spPr>
      </p:cxnSp>
      <p:cxnSp>
        <p:nvCxnSpPr>
          <p:cNvPr id="76" name="Line 76"/>
          <p:cNvCxnSpPr/>
          <p:nvPr/>
        </p:nvCxnSpPr>
        <p:spPr>
          <a:xfrm flipH="1">
            <a:off x="3779520" y="7961630"/>
            <a:ext cx="1270" cy="242570"/>
          </a:xfrm>
          <a:prstGeom prst="line">
            <a:avLst/>
          </a:prstGeom>
          <a:ln w="11430">
            <a:solidFill>
              <a:srgbClr val="111111"/>
            </a:solidFill>
            <a:tailEnd type="triangle"/>
          </a:ln>
        </p:spPr>
      </p:cxnSp>
      <p:cxnSp>
        <p:nvCxnSpPr>
          <p:cNvPr id="77" name="Line 77"/>
          <p:cNvCxnSpPr/>
          <p:nvPr/>
        </p:nvCxnSpPr>
        <p:spPr>
          <a:xfrm>
            <a:off x="3779520" y="8637524"/>
            <a:ext cx="1" cy="182880"/>
          </a:xfrm>
          <a:prstGeom prst="line">
            <a:avLst/>
          </a:prstGeom>
          <a:ln w="11430">
            <a:solidFill>
              <a:srgbClr val="111111"/>
            </a:solidFill>
            <a:tailEnd type="triangle"/>
          </a:ln>
        </p:spPr>
      </p:cxnSp>
      <p:cxnSp>
        <p:nvCxnSpPr>
          <p:cNvPr id="78" name="Line 78"/>
          <p:cNvCxnSpPr/>
          <p:nvPr/>
        </p:nvCxnSpPr>
        <p:spPr>
          <a:xfrm>
            <a:off x="3779520" y="9350756"/>
            <a:ext cx="1" cy="73152"/>
          </a:xfrm>
          <a:prstGeom prst="line">
            <a:avLst/>
          </a:prstGeom>
          <a:ln w="11430">
            <a:solidFill>
              <a:srgbClr val="111111"/>
            </a:solidFill>
            <a:tailEnd type="triangle"/>
          </a:ln>
        </p:spPr>
      </p:cxnSp>
      <p:cxnSp>
        <p:nvCxnSpPr>
          <p:cNvPr id="79" name="Line 79"/>
          <p:cNvCxnSpPr/>
          <p:nvPr/>
        </p:nvCxnSpPr>
        <p:spPr>
          <a:xfrm>
            <a:off x="3779520" y="9826244"/>
            <a:ext cx="1" cy="128016"/>
          </a:xfrm>
          <a:prstGeom prst="line">
            <a:avLst/>
          </a:prstGeom>
          <a:ln w="11430">
            <a:solidFill>
              <a:srgbClr val="111111"/>
            </a:solidFill>
            <a:tailEnd type="triangle"/>
          </a:ln>
        </p:spPr>
      </p:cxnSp>
      <p:cxnSp>
        <p:nvCxnSpPr>
          <p:cNvPr id="80" name="Polyline 80"/>
          <p:cNvCxnSpPr>
            <a:stCxn id="42" idx="3"/>
          </p:cNvCxnSpPr>
          <p:nvPr/>
        </p:nvCxnSpPr>
        <p:spPr>
          <a:xfrm>
            <a:off x="4373626" y="3178556"/>
            <a:ext cx="329565" cy="0"/>
          </a:xfrm>
          <a:prstGeom prst="line">
            <a:avLst/>
          </a:prstGeom>
          <a:ln w="11430">
            <a:solidFill>
              <a:srgbClr val="111111"/>
            </a:solidFill>
          </a:ln>
        </p:spPr>
      </p:cxnSp>
      <p:cxnSp>
        <p:nvCxnSpPr>
          <p:cNvPr id="81" name="Polyline 81"/>
          <p:cNvCxnSpPr/>
          <p:nvPr/>
        </p:nvCxnSpPr>
        <p:spPr>
          <a:xfrm flipV="1">
            <a:off x="4703064" y="2410460"/>
            <a:ext cx="1" cy="768096"/>
          </a:xfrm>
          <a:prstGeom prst="line">
            <a:avLst/>
          </a:prstGeom>
          <a:ln w="11430">
            <a:solidFill>
              <a:srgbClr val="111111"/>
            </a:solidFill>
          </a:ln>
        </p:spPr>
      </p:cxnSp>
      <p:cxnSp>
        <p:nvCxnSpPr>
          <p:cNvPr id="82" name="Polyline 82"/>
          <p:cNvCxnSpPr/>
          <p:nvPr/>
        </p:nvCxnSpPr>
        <p:spPr>
          <a:xfrm flipH="1">
            <a:off x="4501896" y="2410460"/>
            <a:ext cx="201168" cy="1"/>
          </a:xfrm>
          <a:prstGeom prst="line">
            <a:avLst/>
          </a:prstGeom>
          <a:ln w="11430">
            <a:solidFill>
              <a:srgbClr val="111111"/>
            </a:solidFill>
            <a:tailEnd type="triangle"/>
          </a:ln>
        </p:spPr>
      </p:cxnSp>
      <p:sp>
        <p:nvSpPr>
          <p:cNvPr id="83" name="Text 83"/>
          <p:cNvSpPr txBox="1"/>
          <p:nvPr/>
        </p:nvSpPr>
        <p:spPr>
          <a:xfrm>
            <a:off x="4361180" y="2748788"/>
            <a:ext cx="20116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750">
                <a:solidFill>
                  <a:srgbClr val="111111"/>
                </a:solidFill>
                <a:latin typeface="Arial" panose="020B0604020202090204"/>
              </a:rPr>
              <a:t>否</a:t>
            </a:r>
            <a:endParaRPr lang="en-US" sz="75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84" name="Text 84"/>
          <p:cNvSpPr txBox="1"/>
          <p:nvPr/>
        </p:nvSpPr>
        <p:spPr>
          <a:xfrm>
            <a:off x="3852672" y="3480308"/>
            <a:ext cx="20116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750">
                <a:solidFill>
                  <a:srgbClr val="111111"/>
                </a:solidFill>
                <a:latin typeface="Arial" panose="020B0604020202090204"/>
              </a:rPr>
              <a:t>是</a:t>
            </a:r>
            <a:endParaRPr lang="en-US" sz="750">
              <a:solidFill>
                <a:srgbClr val="111111"/>
              </a:solidFill>
              <a:latin typeface="Arial" panose="020B0604020202090204"/>
            </a:endParaRPr>
          </a:p>
        </p:txBody>
      </p:sp>
      <p:cxnSp>
        <p:nvCxnSpPr>
          <p:cNvPr id="85" name="Polyline 85"/>
          <p:cNvCxnSpPr>
            <a:stCxn id="64" idx="1"/>
          </p:cNvCxnSpPr>
          <p:nvPr/>
        </p:nvCxnSpPr>
        <p:spPr>
          <a:xfrm flipH="1">
            <a:off x="2845054" y="9085580"/>
            <a:ext cx="340360" cy="3175"/>
          </a:xfrm>
          <a:prstGeom prst="line">
            <a:avLst/>
          </a:prstGeom>
          <a:ln w="11430">
            <a:solidFill>
              <a:srgbClr val="111111"/>
            </a:solidFill>
          </a:ln>
        </p:spPr>
      </p:cxnSp>
      <p:cxnSp>
        <p:nvCxnSpPr>
          <p:cNvPr id="86" name="Polyline 86"/>
          <p:cNvCxnSpPr/>
          <p:nvPr/>
        </p:nvCxnSpPr>
        <p:spPr>
          <a:xfrm flipV="1">
            <a:off x="2845054" y="6640830"/>
            <a:ext cx="0" cy="2447925"/>
          </a:xfrm>
          <a:prstGeom prst="line">
            <a:avLst/>
          </a:prstGeom>
          <a:ln w="11430">
            <a:solidFill>
              <a:srgbClr val="111111"/>
            </a:solidFill>
          </a:ln>
        </p:spPr>
      </p:cxnSp>
      <p:cxnSp>
        <p:nvCxnSpPr>
          <p:cNvPr id="87" name="Polyline 87"/>
          <p:cNvCxnSpPr/>
          <p:nvPr/>
        </p:nvCxnSpPr>
        <p:spPr>
          <a:xfrm>
            <a:off x="2845054" y="6640957"/>
            <a:ext cx="269240" cy="0"/>
          </a:xfrm>
          <a:prstGeom prst="line">
            <a:avLst/>
          </a:prstGeom>
          <a:ln w="11430">
            <a:solidFill>
              <a:srgbClr val="111111"/>
            </a:solidFill>
            <a:tailEnd type="triangle"/>
          </a:ln>
        </p:spPr>
      </p:cxnSp>
      <p:sp>
        <p:nvSpPr>
          <p:cNvPr id="88" name="Text 88"/>
          <p:cNvSpPr txBox="1"/>
          <p:nvPr/>
        </p:nvSpPr>
        <p:spPr>
          <a:xfrm>
            <a:off x="2636393" y="8009509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750">
                <a:solidFill>
                  <a:srgbClr val="111111"/>
                </a:solidFill>
                <a:latin typeface="Arial" panose="020B0604020202090204"/>
              </a:rPr>
              <a:t>否</a:t>
            </a:r>
            <a:endParaRPr lang="en-US" sz="75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89" name="Text 89"/>
          <p:cNvSpPr txBox="1"/>
          <p:nvPr/>
        </p:nvSpPr>
        <p:spPr>
          <a:xfrm>
            <a:off x="4172712" y="9233027"/>
            <a:ext cx="20116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750">
                <a:solidFill>
                  <a:srgbClr val="111111"/>
                </a:solidFill>
                <a:latin typeface="Arial" panose="020B0604020202090204"/>
              </a:rPr>
              <a:t>是</a:t>
            </a:r>
            <a:endParaRPr lang="en-US" sz="75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90" name="Shape 90"/>
          <p:cNvSpPr/>
          <p:nvPr/>
        </p:nvSpPr>
        <p:spPr>
          <a:xfrm>
            <a:off x="5346192" y="2200148"/>
            <a:ext cx="1444752" cy="420624"/>
          </a:xfrm>
          <a:prstGeom prst="parallelogram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</p:spPr>
        <p:txBody>
          <a:bodyPr/>
          <a:lstStyle/>
          <a:p/>
        </p:txBody>
      </p:sp>
      <p:sp>
        <p:nvSpPr>
          <p:cNvPr id="91" name="Text 91"/>
          <p:cNvSpPr txBox="1"/>
          <p:nvPr/>
        </p:nvSpPr>
        <p:spPr>
          <a:xfrm>
            <a:off x="5382768" y="2255012"/>
            <a:ext cx="13716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800">
                <a:solidFill>
                  <a:srgbClr val="111111"/>
                </a:solidFill>
                <a:latin typeface="Arial" panose="020B0604020202090204"/>
              </a:rPr>
              <a:t>输入教师</a:t>
            </a:r>
            <a:endParaRPr lang="en-US" sz="800">
              <a:solidFill>
                <a:srgbClr val="111111"/>
              </a:solidFill>
              <a:latin typeface="Arial" panose="020B0604020202090204"/>
            </a:endParaRPr>
          </a:p>
          <a:p>
            <a:pPr algn="ctr"/>
            <a:r>
              <a:rPr lang="en-US" sz="800">
                <a:solidFill>
                  <a:srgbClr val="111111"/>
                </a:solidFill>
                <a:latin typeface="Arial" panose="020B0604020202090204"/>
              </a:rPr>
              <a:t>账号密码</a:t>
            </a:r>
            <a:endParaRPr lang="en-US" sz="80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92" name="Shape 92"/>
          <p:cNvSpPr/>
          <p:nvPr/>
        </p:nvSpPr>
        <p:spPr>
          <a:xfrm>
            <a:off x="5474208" y="2913380"/>
            <a:ext cx="1188720" cy="530352"/>
          </a:xfrm>
          <a:prstGeom prst="diamond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</p:spPr>
        <p:txBody>
          <a:bodyPr/>
          <a:lstStyle/>
          <a:p/>
        </p:txBody>
      </p:sp>
      <p:sp>
        <p:nvSpPr>
          <p:cNvPr id="93" name="Text 93"/>
          <p:cNvSpPr txBox="1"/>
          <p:nvPr/>
        </p:nvSpPr>
        <p:spPr>
          <a:xfrm>
            <a:off x="5510784" y="2968244"/>
            <a:ext cx="1115568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800">
                <a:solidFill>
                  <a:srgbClr val="111111"/>
                </a:solidFill>
                <a:latin typeface="Arial" panose="020B0604020202090204"/>
              </a:rPr>
              <a:t>账号密码</a:t>
            </a:r>
            <a:endParaRPr lang="en-US" sz="800">
              <a:solidFill>
                <a:srgbClr val="111111"/>
              </a:solidFill>
              <a:latin typeface="Arial" panose="020B0604020202090204"/>
            </a:endParaRPr>
          </a:p>
          <a:p>
            <a:pPr algn="ctr"/>
            <a:r>
              <a:rPr lang="en-US" sz="800">
                <a:solidFill>
                  <a:srgbClr val="111111"/>
                </a:solidFill>
                <a:latin typeface="Arial" panose="020B0604020202090204"/>
              </a:rPr>
              <a:t>是否正确</a:t>
            </a:r>
            <a:endParaRPr lang="en-US" sz="80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94" name="Shape 94"/>
          <p:cNvSpPr/>
          <p:nvPr/>
        </p:nvSpPr>
        <p:spPr>
          <a:xfrm>
            <a:off x="5346192" y="3681476"/>
            <a:ext cx="144475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</p:spPr>
        <p:txBody>
          <a:bodyPr/>
          <a:lstStyle/>
          <a:p/>
        </p:txBody>
      </p:sp>
      <p:sp>
        <p:nvSpPr>
          <p:cNvPr id="95" name="Text 95"/>
          <p:cNvSpPr txBox="1"/>
          <p:nvPr/>
        </p:nvSpPr>
        <p:spPr>
          <a:xfrm>
            <a:off x="5382768" y="373634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800">
                <a:solidFill>
                  <a:srgbClr val="111111"/>
                </a:solidFill>
                <a:latin typeface="Arial" panose="020B0604020202090204"/>
              </a:rPr>
              <a:t>登录进入</a:t>
            </a:r>
            <a:endParaRPr lang="en-US" sz="800">
              <a:solidFill>
                <a:srgbClr val="111111"/>
              </a:solidFill>
              <a:latin typeface="Arial" panose="020B0604020202090204"/>
            </a:endParaRPr>
          </a:p>
          <a:p>
            <a:pPr algn="ctr"/>
            <a:r>
              <a:rPr lang="en-US" sz="800">
                <a:solidFill>
                  <a:srgbClr val="111111"/>
                </a:solidFill>
                <a:latin typeface="Arial" panose="020B0604020202090204"/>
              </a:rPr>
              <a:t>教师端</a:t>
            </a:r>
            <a:endParaRPr lang="en-US" sz="80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96" name="Shape 96"/>
          <p:cNvSpPr/>
          <p:nvPr/>
        </p:nvSpPr>
        <p:spPr>
          <a:xfrm>
            <a:off x="5346192" y="4376420"/>
            <a:ext cx="144475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</p:spPr>
        <p:txBody>
          <a:bodyPr/>
          <a:lstStyle/>
          <a:p/>
        </p:txBody>
      </p:sp>
      <p:sp>
        <p:nvSpPr>
          <p:cNvPr id="97" name="Text 97"/>
          <p:cNvSpPr txBox="1"/>
          <p:nvPr/>
        </p:nvSpPr>
        <p:spPr>
          <a:xfrm>
            <a:off x="5382768" y="4431284"/>
            <a:ext cx="137160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800">
                <a:solidFill>
                  <a:srgbClr val="111111"/>
                </a:solidFill>
                <a:latin typeface="Arial" panose="020B0604020202090204"/>
              </a:rPr>
              <a:t>分配班级任务</a:t>
            </a:r>
            <a:endParaRPr lang="en-US" sz="800">
              <a:solidFill>
                <a:srgbClr val="111111"/>
              </a:solidFill>
              <a:latin typeface="Arial" panose="020B0604020202090204"/>
            </a:endParaRPr>
          </a:p>
          <a:p>
            <a:pPr algn="ctr"/>
            <a:r>
              <a:rPr lang="en-US" sz="800">
                <a:solidFill>
                  <a:srgbClr val="111111"/>
                </a:solidFill>
                <a:latin typeface="Arial" panose="020B0604020202090204"/>
              </a:rPr>
              <a:t>与教学流程</a:t>
            </a:r>
            <a:endParaRPr lang="en-US" sz="80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103" name="Text 103"/>
          <p:cNvSpPr txBox="1"/>
          <p:nvPr/>
        </p:nvSpPr>
        <p:spPr>
          <a:xfrm>
            <a:off x="5382768" y="5117084"/>
            <a:ext cx="13716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800">
                <a:solidFill>
                  <a:srgbClr val="111111"/>
                </a:solidFill>
                <a:latin typeface="Arial" panose="020B0604020202090204"/>
              </a:rPr>
              <a:t>班级任务</a:t>
            </a:r>
            <a:endParaRPr lang="en-US" sz="800">
              <a:solidFill>
                <a:srgbClr val="111111"/>
              </a:solidFill>
              <a:latin typeface="Arial" panose="020B0604020202090204"/>
            </a:endParaRPr>
          </a:p>
          <a:p>
            <a:pPr algn="ctr"/>
            <a:r>
              <a:rPr lang="en-US" sz="800">
                <a:solidFill>
                  <a:srgbClr val="111111"/>
                </a:solidFill>
                <a:latin typeface="Arial" panose="020B0604020202090204"/>
              </a:rPr>
              <a:t>与课程资料</a:t>
            </a:r>
            <a:endParaRPr lang="en-US" sz="80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104" name="Shape 104"/>
          <p:cNvSpPr/>
          <p:nvPr/>
        </p:nvSpPr>
        <p:spPr>
          <a:xfrm>
            <a:off x="5346192" y="5802884"/>
            <a:ext cx="144475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</p:spPr>
        <p:txBody>
          <a:bodyPr/>
          <a:lstStyle/>
          <a:p/>
        </p:txBody>
      </p:sp>
      <p:sp>
        <p:nvSpPr>
          <p:cNvPr id="105" name="Text 105"/>
          <p:cNvSpPr txBox="1"/>
          <p:nvPr/>
        </p:nvSpPr>
        <p:spPr>
          <a:xfrm>
            <a:off x="5382768" y="5857748"/>
            <a:ext cx="137160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800">
                <a:solidFill>
                  <a:srgbClr val="111111"/>
                </a:solidFill>
                <a:latin typeface="Arial" panose="020B0604020202090204"/>
              </a:rPr>
              <a:t>上传教学材料</a:t>
            </a:r>
            <a:endParaRPr lang="en-US" sz="800">
              <a:solidFill>
                <a:srgbClr val="111111"/>
              </a:solidFill>
              <a:latin typeface="Arial" panose="020B0604020202090204"/>
            </a:endParaRPr>
          </a:p>
          <a:p>
            <a:pPr algn="ctr"/>
            <a:r>
              <a:rPr lang="en-US" sz="800">
                <a:solidFill>
                  <a:srgbClr val="111111"/>
                </a:solidFill>
                <a:latin typeface="Arial" panose="020B0604020202090204"/>
              </a:rPr>
              <a:t>或课堂案例</a:t>
            </a:r>
            <a:endParaRPr lang="en-US" sz="80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111" name="Text 111"/>
          <p:cNvSpPr txBox="1"/>
          <p:nvPr/>
        </p:nvSpPr>
        <p:spPr>
          <a:xfrm>
            <a:off x="5382768" y="6543548"/>
            <a:ext cx="13716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800">
                <a:solidFill>
                  <a:srgbClr val="111111"/>
                </a:solidFill>
                <a:latin typeface="Arial" panose="020B0604020202090204"/>
              </a:rPr>
              <a:t>相关知识切分</a:t>
            </a:r>
            <a:endParaRPr lang="en-US" sz="800">
              <a:solidFill>
                <a:srgbClr val="111111"/>
              </a:solidFill>
              <a:latin typeface="Arial" panose="020B0604020202090204"/>
            </a:endParaRPr>
          </a:p>
          <a:p>
            <a:pPr algn="ctr"/>
            <a:r>
              <a:rPr lang="en-US" sz="800">
                <a:solidFill>
                  <a:srgbClr val="111111"/>
                </a:solidFill>
                <a:latin typeface="Arial" panose="020B0604020202090204"/>
              </a:rPr>
              <a:t>Embedding 入库</a:t>
            </a:r>
            <a:endParaRPr lang="en-US" sz="80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117" name="Text 117"/>
          <p:cNvSpPr txBox="1"/>
          <p:nvPr/>
        </p:nvSpPr>
        <p:spPr>
          <a:xfrm>
            <a:off x="5382768" y="8171307"/>
            <a:ext cx="13716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800">
                <a:solidFill>
                  <a:srgbClr val="111111"/>
                </a:solidFill>
                <a:latin typeface="Arial" panose="020B0604020202090204"/>
              </a:rPr>
              <a:t>学生</a:t>
            </a:r>
            <a:endParaRPr lang="en-US" sz="800">
              <a:solidFill>
                <a:srgbClr val="111111"/>
              </a:solidFill>
              <a:latin typeface="Arial" panose="020B0604020202090204"/>
            </a:endParaRPr>
          </a:p>
          <a:p>
            <a:pPr algn="ctr"/>
            <a:r>
              <a:rPr lang="en-US" sz="800">
                <a:solidFill>
                  <a:srgbClr val="111111"/>
                </a:solidFill>
                <a:latin typeface="Arial" panose="020B0604020202090204"/>
              </a:rPr>
              <a:t>交互记录</a:t>
            </a:r>
            <a:endParaRPr lang="en-US" sz="80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118" name="Shape 118"/>
          <p:cNvSpPr/>
          <p:nvPr/>
        </p:nvSpPr>
        <p:spPr>
          <a:xfrm>
            <a:off x="5346192" y="8872474"/>
            <a:ext cx="144475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</p:spPr>
        <p:txBody>
          <a:bodyPr/>
          <a:lstStyle/>
          <a:p/>
        </p:txBody>
      </p:sp>
      <p:sp>
        <p:nvSpPr>
          <p:cNvPr id="119" name="Text 119"/>
          <p:cNvSpPr txBox="1"/>
          <p:nvPr/>
        </p:nvSpPr>
        <p:spPr>
          <a:xfrm>
            <a:off x="5382768" y="8927338"/>
            <a:ext cx="137160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800">
                <a:solidFill>
                  <a:srgbClr val="111111"/>
                </a:solidFill>
                <a:latin typeface="Arial" panose="020B0604020202090204"/>
              </a:rPr>
              <a:t>查看学情图谱</a:t>
            </a:r>
            <a:endParaRPr lang="en-US" sz="800">
              <a:solidFill>
                <a:srgbClr val="111111"/>
              </a:solidFill>
              <a:latin typeface="Arial" panose="020B0604020202090204"/>
            </a:endParaRPr>
          </a:p>
          <a:p>
            <a:pPr algn="ctr"/>
            <a:r>
              <a:rPr lang="en-US" sz="800">
                <a:solidFill>
                  <a:srgbClr val="111111"/>
                </a:solidFill>
                <a:latin typeface="Arial" panose="020B0604020202090204"/>
              </a:rPr>
              <a:t>与门控日志</a:t>
            </a:r>
            <a:endParaRPr lang="en-US" sz="80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120" name="Shape 120"/>
          <p:cNvSpPr/>
          <p:nvPr/>
        </p:nvSpPr>
        <p:spPr>
          <a:xfrm>
            <a:off x="5346192" y="9530842"/>
            <a:ext cx="144475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</p:spPr>
        <p:txBody>
          <a:bodyPr/>
          <a:lstStyle/>
          <a:p/>
        </p:txBody>
      </p:sp>
      <p:sp>
        <p:nvSpPr>
          <p:cNvPr id="121" name="Text 121"/>
          <p:cNvSpPr txBox="1"/>
          <p:nvPr/>
        </p:nvSpPr>
        <p:spPr>
          <a:xfrm>
            <a:off x="5382768" y="9585706"/>
            <a:ext cx="137160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800">
                <a:solidFill>
                  <a:srgbClr val="111111"/>
                </a:solidFill>
                <a:latin typeface="Arial" panose="020B0604020202090204"/>
              </a:rPr>
              <a:t>调整任务、知识库</a:t>
            </a:r>
            <a:endParaRPr lang="en-US" sz="800">
              <a:solidFill>
                <a:srgbClr val="111111"/>
              </a:solidFill>
              <a:latin typeface="Arial" panose="020B0604020202090204"/>
            </a:endParaRPr>
          </a:p>
          <a:p>
            <a:pPr algn="ctr"/>
            <a:r>
              <a:rPr lang="en-US" sz="800">
                <a:solidFill>
                  <a:srgbClr val="111111"/>
                </a:solidFill>
                <a:latin typeface="Arial" panose="020B0604020202090204"/>
              </a:rPr>
              <a:t>或提示词配置</a:t>
            </a:r>
            <a:endParaRPr lang="en-US" sz="800">
              <a:solidFill>
                <a:srgbClr val="111111"/>
              </a:solidFill>
              <a:latin typeface="Arial" panose="020B0604020202090204"/>
            </a:endParaRPr>
          </a:p>
        </p:txBody>
      </p:sp>
      <p:cxnSp>
        <p:nvCxnSpPr>
          <p:cNvPr id="122" name="Line 122"/>
          <p:cNvCxnSpPr/>
          <p:nvPr/>
        </p:nvCxnSpPr>
        <p:spPr>
          <a:xfrm>
            <a:off x="6068568" y="2620772"/>
            <a:ext cx="1" cy="292608"/>
          </a:xfrm>
          <a:prstGeom prst="line">
            <a:avLst/>
          </a:prstGeom>
          <a:ln w="11430">
            <a:solidFill>
              <a:srgbClr val="111111"/>
            </a:solidFill>
            <a:tailEnd type="triangle"/>
          </a:ln>
        </p:spPr>
      </p:cxnSp>
      <p:cxnSp>
        <p:nvCxnSpPr>
          <p:cNvPr id="123" name="Line 123"/>
          <p:cNvCxnSpPr/>
          <p:nvPr/>
        </p:nvCxnSpPr>
        <p:spPr>
          <a:xfrm>
            <a:off x="6068568" y="3443732"/>
            <a:ext cx="1" cy="237744"/>
          </a:xfrm>
          <a:prstGeom prst="line">
            <a:avLst/>
          </a:prstGeom>
          <a:ln w="11430">
            <a:solidFill>
              <a:srgbClr val="111111"/>
            </a:solidFill>
            <a:tailEnd type="triangle"/>
          </a:ln>
        </p:spPr>
      </p:cxnSp>
      <p:cxnSp>
        <p:nvCxnSpPr>
          <p:cNvPr id="124" name="Line 124"/>
          <p:cNvCxnSpPr/>
          <p:nvPr/>
        </p:nvCxnSpPr>
        <p:spPr>
          <a:xfrm>
            <a:off x="6068568" y="4120388"/>
            <a:ext cx="1" cy="256032"/>
          </a:xfrm>
          <a:prstGeom prst="line">
            <a:avLst/>
          </a:prstGeom>
          <a:ln w="11430">
            <a:solidFill>
              <a:srgbClr val="111111"/>
            </a:solidFill>
            <a:tailEnd type="triangle"/>
          </a:ln>
        </p:spPr>
      </p:cxnSp>
      <p:cxnSp>
        <p:nvCxnSpPr>
          <p:cNvPr id="125" name="Line 125"/>
          <p:cNvCxnSpPr/>
          <p:nvPr/>
        </p:nvCxnSpPr>
        <p:spPr>
          <a:xfrm>
            <a:off x="6068568" y="4833620"/>
            <a:ext cx="1" cy="237744"/>
          </a:xfrm>
          <a:prstGeom prst="line">
            <a:avLst/>
          </a:prstGeom>
          <a:ln w="11430">
            <a:solidFill>
              <a:srgbClr val="111111"/>
            </a:solidFill>
            <a:tailEnd type="triangle"/>
          </a:ln>
        </p:spPr>
      </p:cxnSp>
      <p:cxnSp>
        <p:nvCxnSpPr>
          <p:cNvPr id="126" name="Line 126"/>
          <p:cNvCxnSpPr/>
          <p:nvPr/>
        </p:nvCxnSpPr>
        <p:spPr>
          <a:xfrm>
            <a:off x="6068568" y="5565140"/>
            <a:ext cx="1" cy="237744"/>
          </a:xfrm>
          <a:prstGeom prst="line">
            <a:avLst/>
          </a:prstGeom>
          <a:ln w="11430">
            <a:solidFill>
              <a:srgbClr val="111111"/>
            </a:solidFill>
            <a:tailEnd type="triangle"/>
          </a:ln>
        </p:spPr>
      </p:cxnSp>
      <p:cxnSp>
        <p:nvCxnSpPr>
          <p:cNvPr id="127" name="Line 127"/>
          <p:cNvCxnSpPr/>
          <p:nvPr/>
        </p:nvCxnSpPr>
        <p:spPr>
          <a:xfrm>
            <a:off x="6068568" y="6260084"/>
            <a:ext cx="1" cy="237744"/>
          </a:xfrm>
          <a:prstGeom prst="line">
            <a:avLst/>
          </a:prstGeom>
          <a:ln w="11430">
            <a:solidFill>
              <a:srgbClr val="111111"/>
            </a:solidFill>
            <a:tailEnd type="triangle"/>
          </a:ln>
        </p:spPr>
      </p:cxnSp>
      <p:cxnSp>
        <p:nvCxnSpPr>
          <p:cNvPr id="128" name="Line 128"/>
          <p:cNvCxnSpPr/>
          <p:nvPr/>
        </p:nvCxnSpPr>
        <p:spPr>
          <a:xfrm>
            <a:off x="6068568" y="6973824"/>
            <a:ext cx="0" cy="297180"/>
          </a:xfrm>
          <a:prstGeom prst="line">
            <a:avLst/>
          </a:prstGeom>
          <a:ln w="11430">
            <a:solidFill>
              <a:srgbClr val="111111"/>
            </a:solidFill>
            <a:tailEnd type="triangle"/>
          </a:ln>
        </p:spPr>
      </p:cxnSp>
      <p:cxnSp>
        <p:nvCxnSpPr>
          <p:cNvPr id="129" name="Line 129"/>
          <p:cNvCxnSpPr>
            <a:stCxn id="150" idx="2"/>
          </p:cNvCxnSpPr>
          <p:nvPr/>
        </p:nvCxnSpPr>
        <p:spPr>
          <a:xfrm>
            <a:off x="6078093" y="8585962"/>
            <a:ext cx="6350" cy="287020"/>
          </a:xfrm>
          <a:prstGeom prst="line">
            <a:avLst/>
          </a:prstGeom>
          <a:ln w="11430">
            <a:solidFill>
              <a:srgbClr val="111111"/>
            </a:solidFill>
            <a:tailEnd type="triangle"/>
          </a:ln>
        </p:spPr>
      </p:cxnSp>
      <p:cxnSp>
        <p:nvCxnSpPr>
          <p:cNvPr id="130" name="Line 130"/>
          <p:cNvCxnSpPr/>
          <p:nvPr/>
        </p:nvCxnSpPr>
        <p:spPr>
          <a:xfrm>
            <a:off x="6068568" y="9329674"/>
            <a:ext cx="1" cy="201168"/>
          </a:xfrm>
          <a:prstGeom prst="line">
            <a:avLst/>
          </a:prstGeom>
          <a:ln w="11430">
            <a:solidFill>
              <a:srgbClr val="111111"/>
            </a:solidFill>
            <a:tailEnd type="triangle"/>
          </a:ln>
        </p:spPr>
      </p:cxnSp>
      <p:cxnSp>
        <p:nvCxnSpPr>
          <p:cNvPr id="131" name="Polyline 131"/>
          <p:cNvCxnSpPr>
            <a:stCxn id="92" idx="3"/>
          </p:cNvCxnSpPr>
          <p:nvPr/>
        </p:nvCxnSpPr>
        <p:spPr>
          <a:xfrm>
            <a:off x="6663309" y="3178556"/>
            <a:ext cx="310515" cy="0"/>
          </a:xfrm>
          <a:prstGeom prst="line">
            <a:avLst/>
          </a:prstGeom>
          <a:ln w="11430">
            <a:solidFill>
              <a:srgbClr val="111111"/>
            </a:solidFill>
          </a:ln>
        </p:spPr>
      </p:cxnSp>
      <p:cxnSp>
        <p:nvCxnSpPr>
          <p:cNvPr id="132" name="Polyline 132"/>
          <p:cNvCxnSpPr/>
          <p:nvPr/>
        </p:nvCxnSpPr>
        <p:spPr>
          <a:xfrm flipV="1">
            <a:off x="6973824" y="2410460"/>
            <a:ext cx="1" cy="768096"/>
          </a:xfrm>
          <a:prstGeom prst="line">
            <a:avLst/>
          </a:prstGeom>
          <a:ln w="11430">
            <a:solidFill>
              <a:srgbClr val="111111"/>
            </a:solidFill>
          </a:ln>
        </p:spPr>
      </p:cxnSp>
      <p:cxnSp>
        <p:nvCxnSpPr>
          <p:cNvPr id="133" name="Polyline 133"/>
          <p:cNvCxnSpPr/>
          <p:nvPr/>
        </p:nvCxnSpPr>
        <p:spPr>
          <a:xfrm flipH="1">
            <a:off x="6790944" y="2410460"/>
            <a:ext cx="182880" cy="1"/>
          </a:xfrm>
          <a:prstGeom prst="line">
            <a:avLst/>
          </a:prstGeom>
          <a:ln w="11430">
            <a:solidFill>
              <a:srgbClr val="111111"/>
            </a:solidFill>
            <a:tailEnd type="triangle"/>
          </a:ln>
        </p:spPr>
      </p:cxnSp>
      <p:sp>
        <p:nvSpPr>
          <p:cNvPr id="134" name="Text 134"/>
          <p:cNvSpPr txBox="1"/>
          <p:nvPr/>
        </p:nvSpPr>
        <p:spPr>
          <a:xfrm>
            <a:off x="6613652" y="2748788"/>
            <a:ext cx="20116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750">
                <a:solidFill>
                  <a:srgbClr val="111111"/>
                </a:solidFill>
                <a:latin typeface="Arial" panose="020B0604020202090204"/>
              </a:rPr>
              <a:t>否</a:t>
            </a:r>
            <a:endParaRPr lang="en-US" sz="75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135" name="Text 135"/>
          <p:cNvSpPr txBox="1"/>
          <p:nvPr/>
        </p:nvSpPr>
        <p:spPr>
          <a:xfrm>
            <a:off x="6141720" y="3480308"/>
            <a:ext cx="20116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750">
                <a:solidFill>
                  <a:srgbClr val="111111"/>
                </a:solidFill>
                <a:latin typeface="Arial" panose="020B0604020202090204"/>
              </a:rPr>
              <a:t>是</a:t>
            </a:r>
            <a:endParaRPr lang="en-US" sz="750">
              <a:solidFill>
                <a:srgbClr val="111111"/>
              </a:solidFill>
              <a:latin typeface="Arial" panose="020B0604020202090204"/>
            </a:endParaRPr>
          </a:p>
        </p:txBody>
      </p:sp>
      <p:cxnSp>
        <p:nvCxnSpPr>
          <p:cNvPr id="136" name="Line 136"/>
          <p:cNvCxnSpPr/>
          <p:nvPr/>
        </p:nvCxnSpPr>
        <p:spPr>
          <a:xfrm flipH="1">
            <a:off x="4500626" y="4696587"/>
            <a:ext cx="844296" cy="1"/>
          </a:xfrm>
          <a:prstGeom prst="line">
            <a:avLst/>
          </a:prstGeom>
          <a:ln w="11430">
            <a:solidFill>
              <a:srgbClr val="111111"/>
            </a:solidFill>
            <a:tailEnd type="triangle"/>
          </a:ln>
        </p:spPr>
      </p:cxnSp>
      <p:sp>
        <p:nvSpPr>
          <p:cNvPr id="137" name="Text 137"/>
          <p:cNvSpPr txBox="1"/>
          <p:nvPr/>
        </p:nvSpPr>
        <p:spPr>
          <a:xfrm>
            <a:off x="4505452" y="4430776"/>
            <a:ext cx="493776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700">
                <a:solidFill>
                  <a:srgbClr val="111111"/>
                </a:solidFill>
                <a:latin typeface="Arial" panose="020B0604020202090204"/>
              </a:rPr>
              <a:t>发布</a:t>
            </a:r>
            <a:endParaRPr lang="en-US" sz="700">
              <a:solidFill>
                <a:srgbClr val="111111"/>
              </a:solidFill>
              <a:latin typeface="Arial" panose="020B0604020202090204"/>
            </a:endParaRPr>
          </a:p>
        </p:txBody>
      </p:sp>
      <p:cxnSp>
        <p:nvCxnSpPr>
          <p:cNvPr id="138" name="Line 138"/>
          <p:cNvCxnSpPr>
            <a:endCxn id="150" idx="1"/>
          </p:cNvCxnSpPr>
          <p:nvPr/>
        </p:nvCxnSpPr>
        <p:spPr>
          <a:xfrm flipV="1">
            <a:off x="4501896" y="8363458"/>
            <a:ext cx="843915" cy="8890"/>
          </a:xfrm>
          <a:prstGeom prst="line">
            <a:avLst/>
          </a:prstGeom>
          <a:ln w="11430">
            <a:solidFill>
              <a:srgbClr val="111111"/>
            </a:solidFill>
            <a:tailEnd type="triangle"/>
          </a:ln>
        </p:spPr>
      </p:cxnSp>
      <p:sp>
        <p:nvSpPr>
          <p:cNvPr id="139" name="Text 139"/>
          <p:cNvSpPr txBox="1"/>
          <p:nvPr/>
        </p:nvSpPr>
        <p:spPr>
          <a:xfrm>
            <a:off x="4480560" y="8171180"/>
            <a:ext cx="65836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700">
                <a:solidFill>
                  <a:srgbClr val="111111"/>
                </a:solidFill>
                <a:latin typeface="Arial" panose="020B0604020202090204"/>
              </a:rPr>
              <a:t>学习记录</a:t>
            </a:r>
            <a:endParaRPr lang="en-US" sz="700">
              <a:solidFill>
                <a:srgbClr val="111111"/>
              </a:solidFill>
              <a:latin typeface="Arial" panose="020B0604020202090204"/>
            </a:endParaRPr>
          </a:p>
        </p:txBody>
      </p:sp>
      <p:cxnSp>
        <p:nvCxnSpPr>
          <p:cNvPr id="140" name="Polyline 140"/>
          <p:cNvCxnSpPr/>
          <p:nvPr/>
        </p:nvCxnSpPr>
        <p:spPr>
          <a:xfrm flipH="1">
            <a:off x="6085078" y="9991852"/>
            <a:ext cx="635" cy="249555"/>
          </a:xfrm>
          <a:prstGeom prst="line">
            <a:avLst/>
          </a:prstGeom>
          <a:ln w="11430">
            <a:solidFill>
              <a:srgbClr val="111111"/>
            </a:solidFill>
          </a:ln>
        </p:spPr>
      </p:cxnSp>
      <p:cxnSp>
        <p:nvCxnSpPr>
          <p:cNvPr id="141" name="Polyline 141"/>
          <p:cNvCxnSpPr/>
          <p:nvPr/>
        </p:nvCxnSpPr>
        <p:spPr>
          <a:xfrm flipH="1">
            <a:off x="5076698" y="10240645"/>
            <a:ext cx="1007745" cy="0"/>
          </a:xfrm>
          <a:prstGeom prst="line">
            <a:avLst/>
          </a:prstGeom>
          <a:ln w="11430">
            <a:solidFill>
              <a:srgbClr val="111111"/>
            </a:solidFill>
          </a:ln>
        </p:spPr>
      </p:cxnSp>
      <p:cxnSp>
        <p:nvCxnSpPr>
          <p:cNvPr id="142" name="Polyline 142"/>
          <p:cNvCxnSpPr/>
          <p:nvPr/>
        </p:nvCxnSpPr>
        <p:spPr>
          <a:xfrm flipV="1">
            <a:off x="5076952" y="4605020"/>
            <a:ext cx="25400" cy="5635625"/>
          </a:xfrm>
          <a:prstGeom prst="line">
            <a:avLst/>
          </a:prstGeom>
          <a:ln w="11430">
            <a:solidFill>
              <a:srgbClr val="111111"/>
            </a:solidFill>
          </a:ln>
        </p:spPr>
      </p:cxnSp>
      <p:cxnSp>
        <p:nvCxnSpPr>
          <p:cNvPr id="143" name="Polyline 143"/>
          <p:cNvCxnSpPr/>
          <p:nvPr/>
        </p:nvCxnSpPr>
        <p:spPr>
          <a:xfrm>
            <a:off x="5102352" y="4605020"/>
            <a:ext cx="243840" cy="1"/>
          </a:xfrm>
          <a:prstGeom prst="line">
            <a:avLst/>
          </a:prstGeom>
          <a:ln w="11430">
            <a:solidFill>
              <a:srgbClr val="111111"/>
            </a:solidFill>
            <a:tailEnd type="triangle"/>
          </a:ln>
        </p:spPr>
      </p:cxnSp>
      <p:sp>
        <p:nvSpPr>
          <p:cNvPr id="144" name="Text 144"/>
          <p:cNvSpPr txBox="1"/>
          <p:nvPr/>
        </p:nvSpPr>
        <p:spPr>
          <a:xfrm>
            <a:off x="5596128" y="10024618"/>
            <a:ext cx="402336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700">
                <a:solidFill>
                  <a:srgbClr val="111111"/>
                </a:solidFill>
                <a:latin typeface="Arial" panose="020B0604020202090204"/>
              </a:rPr>
              <a:t>迭代</a:t>
            </a:r>
            <a:endParaRPr lang="en-US" sz="70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145" name="流程图: 文档 144"/>
          <p:cNvSpPr/>
          <p:nvPr/>
        </p:nvSpPr>
        <p:spPr>
          <a:xfrm>
            <a:off x="768985" y="6812915"/>
            <a:ext cx="1463675" cy="512445"/>
          </a:xfrm>
          <a:prstGeom prst="flowChartDocumen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6" name="流程图: 文档 145"/>
          <p:cNvSpPr/>
          <p:nvPr/>
        </p:nvSpPr>
        <p:spPr>
          <a:xfrm>
            <a:off x="3060700" y="4417060"/>
            <a:ext cx="1444625" cy="512445"/>
          </a:xfrm>
          <a:prstGeom prst="flowChartDocumen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7" name="流程图: 文档 146"/>
          <p:cNvSpPr/>
          <p:nvPr/>
        </p:nvSpPr>
        <p:spPr>
          <a:xfrm>
            <a:off x="5346065" y="5071110"/>
            <a:ext cx="1444625" cy="512445"/>
          </a:xfrm>
          <a:prstGeom prst="flowChartDocumen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8" name="流程图: 文档 147"/>
          <p:cNvSpPr/>
          <p:nvPr/>
        </p:nvSpPr>
        <p:spPr>
          <a:xfrm>
            <a:off x="3038475" y="8204200"/>
            <a:ext cx="1463675" cy="415290"/>
          </a:xfrm>
          <a:prstGeom prst="flowChartDocumen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9" name="流程图: 文档 148"/>
          <p:cNvSpPr/>
          <p:nvPr/>
        </p:nvSpPr>
        <p:spPr>
          <a:xfrm>
            <a:off x="5365115" y="6496685"/>
            <a:ext cx="1463675" cy="512445"/>
          </a:xfrm>
          <a:prstGeom prst="flowChartDocumen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0" name="流程图: 文档 149"/>
          <p:cNvSpPr/>
          <p:nvPr/>
        </p:nvSpPr>
        <p:spPr>
          <a:xfrm>
            <a:off x="5346065" y="8107045"/>
            <a:ext cx="1463675" cy="512445"/>
          </a:xfrm>
          <a:prstGeom prst="flowChartDocumen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2" name="Shape 118"/>
          <p:cNvSpPr/>
          <p:nvPr/>
        </p:nvSpPr>
        <p:spPr>
          <a:xfrm>
            <a:off x="5344922" y="7272274"/>
            <a:ext cx="144475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</p:spPr>
        <p:txBody>
          <a:bodyPr/>
          <a:lstStyle/>
          <a:p/>
        </p:txBody>
      </p:sp>
      <p:sp>
        <p:nvSpPr>
          <p:cNvPr id="153" name="Text 119"/>
          <p:cNvSpPr txBox="1"/>
          <p:nvPr/>
        </p:nvSpPr>
        <p:spPr>
          <a:xfrm>
            <a:off x="5381498" y="7327138"/>
            <a:ext cx="137160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800">
                <a:solidFill>
                  <a:srgbClr val="111111"/>
                </a:solidFill>
                <a:latin typeface="Arial" panose="020B0604020202090204"/>
              </a:rPr>
              <a:t>查看</a:t>
            </a:r>
            <a:r>
              <a:rPr lang="zh-CN" altLang="en-US" sz="800">
                <a:solidFill>
                  <a:srgbClr val="111111"/>
                </a:solidFill>
                <a:latin typeface="Arial" panose="020B0604020202090204"/>
              </a:rPr>
              <a:t>批阅</a:t>
            </a:r>
            <a:endParaRPr lang="zh-CN" altLang="en-US" sz="800">
              <a:solidFill>
                <a:srgbClr val="111111"/>
              </a:solidFill>
              <a:latin typeface="Arial" panose="020B0604020202090204"/>
            </a:endParaRPr>
          </a:p>
        </p:txBody>
      </p:sp>
      <p:cxnSp>
        <p:nvCxnSpPr>
          <p:cNvPr id="154" name="Line 128"/>
          <p:cNvCxnSpPr>
            <a:endCxn id="150" idx="0"/>
          </p:cNvCxnSpPr>
          <p:nvPr/>
        </p:nvCxnSpPr>
        <p:spPr>
          <a:xfrm>
            <a:off x="6068568" y="7720584"/>
            <a:ext cx="9525" cy="386715"/>
          </a:xfrm>
          <a:prstGeom prst="line">
            <a:avLst/>
          </a:prstGeom>
          <a:ln w="11430">
            <a:solidFill>
              <a:srgbClr val="111111"/>
            </a:solidFill>
            <a:tailEnd type="triangle"/>
          </a:ln>
        </p:spPr>
      </p:cxnSp>
      <p:sp>
        <p:nvSpPr>
          <p:cNvPr id="155" name="Shape 56"/>
          <p:cNvSpPr/>
          <p:nvPr/>
        </p:nvSpPr>
        <p:spPr>
          <a:xfrm>
            <a:off x="3060700" y="7672070"/>
            <a:ext cx="1444625" cy="327025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</p:spPr>
        <p:txBody>
          <a:bodyPr/>
          <a:lstStyle/>
          <a:p/>
        </p:txBody>
      </p:sp>
      <p:cxnSp>
        <p:nvCxnSpPr>
          <p:cNvPr id="156" name="Line 75"/>
          <p:cNvCxnSpPr/>
          <p:nvPr/>
        </p:nvCxnSpPr>
        <p:spPr>
          <a:xfrm>
            <a:off x="3779520" y="7525131"/>
            <a:ext cx="0" cy="147320"/>
          </a:xfrm>
          <a:prstGeom prst="line">
            <a:avLst/>
          </a:prstGeom>
          <a:ln w="11430">
            <a:solidFill>
              <a:srgbClr val="111111"/>
            </a:solidFill>
            <a:tailEnd type="triangle"/>
          </a:ln>
        </p:spPr>
      </p:cxnSp>
      <p:sp>
        <p:nvSpPr>
          <p:cNvPr id="157" name="Text 57"/>
          <p:cNvSpPr txBox="1"/>
          <p:nvPr/>
        </p:nvSpPr>
        <p:spPr>
          <a:xfrm>
            <a:off x="3093720" y="7692390"/>
            <a:ext cx="1371600" cy="3067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altLang="en-US" sz="800">
                <a:solidFill>
                  <a:srgbClr val="111111"/>
                </a:solidFill>
                <a:latin typeface="Arial" panose="020B0604020202090204"/>
              </a:rPr>
              <a:t>交互反馈</a:t>
            </a:r>
            <a:endParaRPr lang="zh-CN" altLang="en-US" sz="80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158" name="Text 28"/>
          <p:cNvSpPr txBox="1"/>
          <p:nvPr/>
        </p:nvSpPr>
        <p:spPr>
          <a:xfrm>
            <a:off x="804672" y="4453763"/>
            <a:ext cx="137160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altLang="en-US" sz="800">
                <a:solidFill>
                  <a:srgbClr val="111111"/>
                </a:solidFill>
                <a:latin typeface="Arial" panose="020B0604020202090204"/>
              </a:rPr>
              <a:t>用户角色信息与班级</a:t>
            </a:r>
            <a:r>
              <a:rPr lang="zh-CN" altLang="en-US" sz="800">
                <a:solidFill>
                  <a:srgbClr val="111111"/>
                </a:solidFill>
                <a:latin typeface="Arial" panose="020B0604020202090204"/>
              </a:rPr>
              <a:t>信息</a:t>
            </a:r>
            <a:endParaRPr lang="zh-CN" altLang="en-US" sz="80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159" name="流程图: 文档 158"/>
          <p:cNvSpPr/>
          <p:nvPr/>
        </p:nvSpPr>
        <p:spPr>
          <a:xfrm>
            <a:off x="768985" y="4408170"/>
            <a:ext cx="1463675" cy="512445"/>
          </a:xfrm>
          <a:prstGeom prst="flowChartDocumen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60" name="Line 32"/>
          <p:cNvCxnSpPr/>
          <p:nvPr/>
        </p:nvCxnSpPr>
        <p:spPr>
          <a:xfrm>
            <a:off x="1490472" y="4895723"/>
            <a:ext cx="1" cy="292608"/>
          </a:xfrm>
          <a:prstGeom prst="line">
            <a:avLst/>
          </a:prstGeom>
          <a:ln w="11430">
            <a:solidFill>
              <a:srgbClr val="111111"/>
            </a:solidFill>
            <a:tailEnd type="triangle"/>
          </a:ln>
        </p:spPr>
      </p:cxnSp>
      <p:cxnSp>
        <p:nvCxnSpPr>
          <p:cNvPr id="161" name="Polyline 35"/>
          <p:cNvCxnSpPr/>
          <p:nvPr/>
        </p:nvCxnSpPr>
        <p:spPr>
          <a:xfrm>
            <a:off x="2230628" y="4613656"/>
            <a:ext cx="685800" cy="10160"/>
          </a:xfrm>
          <a:prstGeom prst="line">
            <a:avLst/>
          </a:prstGeom>
          <a:ln w="11430">
            <a:solidFill>
              <a:srgbClr val="111111"/>
            </a:solidFill>
          </a:ln>
        </p:spPr>
      </p:cxnSp>
      <p:cxnSp>
        <p:nvCxnSpPr>
          <p:cNvPr id="162" name="Polyline 86"/>
          <p:cNvCxnSpPr/>
          <p:nvPr/>
        </p:nvCxnSpPr>
        <p:spPr>
          <a:xfrm flipV="1">
            <a:off x="2916809" y="2320290"/>
            <a:ext cx="0" cy="2303780"/>
          </a:xfrm>
          <a:prstGeom prst="line">
            <a:avLst/>
          </a:prstGeom>
          <a:ln w="11430">
            <a:solidFill>
              <a:srgbClr val="111111"/>
            </a:solidFill>
          </a:ln>
        </p:spPr>
      </p:cxnSp>
      <p:cxnSp>
        <p:nvCxnSpPr>
          <p:cNvPr id="164" name="Polyline 82"/>
          <p:cNvCxnSpPr/>
          <p:nvPr/>
        </p:nvCxnSpPr>
        <p:spPr>
          <a:xfrm flipH="1">
            <a:off x="2212721" y="2410460"/>
            <a:ext cx="201168" cy="1"/>
          </a:xfrm>
          <a:prstGeom prst="line">
            <a:avLst/>
          </a:prstGeom>
          <a:ln w="11430">
            <a:solidFill>
              <a:srgbClr val="111111"/>
            </a:solidFill>
            <a:tailEnd type="triangle"/>
          </a:ln>
        </p:spPr>
      </p:cxnSp>
      <p:cxnSp>
        <p:nvCxnSpPr>
          <p:cNvPr id="165" name="Polyline 35"/>
          <p:cNvCxnSpPr/>
          <p:nvPr/>
        </p:nvCxnSpPr>
        <p:spPr>
          <a:xfrm flipV="1">
            <a:off x="2232533" y="4480306"/>
            <a:ext cx="540385" cy="635"/>
          </a:xfrm>
          <a:prstGeom prst="line">
            <a:avLst/>
          </a:prstGeom>
          <a:ln w="11430">
            <a:solidFill>
              <a:srgbClr val="111111"/>
            </a:solidFill>
          </a:ln>
        </p:spPr>
      </p:cxnSp>
      <p:cxnSp>
        <p:nvCxnSpPr>
          <p:cNvPr id="166" name="Polyline 86"/>
          <p:cNvCxnSpPr/>
          <p:nvPr/>
        </p:nvCxnSpPr>
        <p:spPr>
          <a:xfrm flipV="1">
            <a:off x="2773299" y="1960245"/>
            <a:ext cx="0" cy="2520950"/>
          </a:xfrm>
          <a:prstGeom prst="line">
            <a:avLst/>
          </a:prstGeom>
          <a:ln w="11430">
            <a:solidFill>
              <a:srgbClr val="111111"/>
            </a:solidFill>
          </a:ln>
        </p:spPr>
      </p:cxnSp>
      <p:cxnSp>
        <p:nvCxnSpPr>
          <p:cNvPr id="167" name="Polyline 35"/>
          <p:cNvCxnSpPr/>
          <p:nvPr/>
        </p:nvCxnSpPr>
        <p:spPr>
          <a:xfrm flipV="1">
            <a:off x="2772918" y="1959991"/>
            <a:ext cx="3312160" cy="635"/>
          </a:xfrm>
          <a:prstGeom prst="line">
            <a:avLst/>
          </a:prstGeom>
          <a:ln w="11430">
            <a:solidFill>
              <a:srgbClr val="111111"/>
            </a:solidFill>
          </a:ln>
        </p:spPr>
      </p:cxnSp>
      <p:cxnSp>
        <p:nvCxnSpPr>
          <p:cNvPr id="168" name="Line 122"/>
          <p:cNvCxnSpPr/>
          <p:nvPr/>
        </p:nvCxnSpPr>
        <p:spPr>
          <a:xfrm flipH="1">
            <a:off x="6085078" y="1962277"/>
            <a:ext cx="635" cy="213995"/>
          </a:xfrm>
          <a:prstGeom prst="line">
            <a:avLst/>
          </a:prstGeom>
          <a:ln w="11430">
            <a:solidFill>
              <a:srgbClr val="111111"/>
            </a:solidFill>
            <a:tailEnd type="triangle"/>
          </a:ln>
        </p:spPr>
      </p:cxnSp>
      <p:sp>
        <p:nvSpPr>
          <p:cNvPr id="169" name="Shape 44"/>
          <p:cNvSpPr/>
          <p:nvPr/>
        </p:nvSpPr>
        <p:spPr>
          <a:xfrm>
            <a:off x="2819400" y="5821045"/>
            <a:ext cx="720725" cy="386715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</p:spPr>
        <p:txBody>
          <a:bodyPr/>
          <a:lstStyle/>
          <a:p/>
        </p:txBody>
      </p:sp>
      <p:sp>
        <p:nvSpPr>
          <p:cNvPr id="170" name="Text 45"/>
          <p:cNvSpPr txBox="1"/>
          <p:nvPr/>
        </p:nvSpPr>
        <p:spPr>
          <a:xfrm>
            <a:off x="2855595" y="5848350"/>
            <a:ext cx="668655" cy="336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altLang="en-US" sz="800">
                <a:solidFill>
                  <a:srgbClr val="111111"/>
                </a:solidFill>
                <a:latin typeface="Arial" panose="020B0604020202090204"/>
              </a:rPr>
              <a:t>开启日常模式</a:t>
            </a:r>
            <a:endParaRPr lang="zh-CN" altLang="en-US" sz="80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171" name="Shape 44"/>
          <p:cNvSpPr/>
          <p:nvPr/>
        </p:nvSpPr>
        <p:spPr>
          <a:xfrm>
            <a:off x="4017645" y="5821045"/>
            <a:ext cx="720725" cy="38989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</p:spPr>
        <p:txBody>
          <a:bodyPr/>
          <a:lstStyle/>
          <a:p/>
        </p:txBody>
      </p:sp>
      <p:sp>
        <p:nvSpPr>
          <p:cNvPr id="172" name="Text 45"/>
          <p:cNvSpPr txBox="1"/>
          <p:nvPr/>
        </p:nvSpPr>
        <p:spPr>
          <a:xfrm>
            <a:off x="4053840" y="5857875"/>
            <a:ext cx="668655" cy="336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altLang="en-US" sz="800">
                <a:solidFill>
                  <a:srgbClr val="111111"/>
                </a:solidFill>
                <a:latin typeface="Arial" panose="020B0604020202090204"/>
              </a:rPr>
              <a:t>开启教学模式</a:t>
            </a:r>
            <a:endParaRPr lang="zh-CN" altLang="en-US" sz="800">
              <a:solidFill>
                <a:srgbClr val="111111"/>
              </a:solidFill>
              <a:latin typeface="Arial" panose="020B0604020202090204"/>
            </a:endParaRPr>
          </a:p>
        </p:txBody>
      </p:sp>
      <p:cxnSp>
        <p:nvCxnSpPr>
          <p:cNvPr id="173" name="Line 73"/>
          <p:cNvCxnSpPr/>
          <p:nvPr/>
        </p:nvCxnSpPr>
        <p:spPr>
          <a:xfrm>
            <a:off x="3348990" y="6208395"/>
            <a:ext cx="0" cy="199390"/>
          </a:xfrm>
          <a:prstGeom prst="line">
            <a:avLst/>
          </a:prstGeom>
          <a:ln w="11430">
            <a:solidFill>
              <a:srgbClr val="111111"/>
            </a:solidFill>
            <a:tailEnd type="triangle"/>
          </a:ln>
        </p:spPr>
      </p:cxnSp>
      <p:cxnSp>
        <p:nvCxnSpPr>
          <p:cNvPr id="174" name="Line 73"/>
          <p:cNvCxnSpPr/>
          <p:nvPr/>
        </p:nvCxnSpPr>
        <p:spPr>
          <a:xfrm>
            <a:off x="4172585" y="6207760"/>
            <a:ext cx="0" cy="199390"/>
          </a:xfrm>
          <a:prstGeom prst="line">
            <a:avLst/>
          </a:prstGeom>
          <a:ln w="11430">
            <a:solidFill>
              <a:srgbClr val="111111"/>
            </a:solidFill>
            <a:tailEnd type="triangle"/>
          </a:ln>
        </p:spPr>
      </p:cxnSp>
      <p:cxnSp>
        <p:nvCxnSpPr>
          <p:cNvPr id="175" name="Line 73"/>
          <p:cNvCxnSpPr>
            <a:endCxn id="169" idx="0"/>
          </p:cNvCxnSpPr>
          <p:nvPr/>
        </p:nvCxnSpPr>
        <p:spPr>
          <a:xfrm>
            <a:off x="3166745" y="5464810"/>
            <a:ext cx="13335" cy="356235"/>
          </a:xfrm>
          <a:prstGeom prst="line">
            <a:avLst/>
          </a:prstGeom>
          <a:ln w="11430">
            <a:solidFill>
              <a:srgbClr val="111111"/>
            </a:solidFill>
            <a:tailEnd type="triangle"/>
          </a:ln>
        </p:spPr>
      </p:cxnSp>
      <p:cxnSp>
        <p:nvCxnSpPr>
          <p:cNvPr id="177" name="Line 73"/>
          <p:cNvCxnSpPr/>
          <p:nvPr/>
        </p:nvCxnSpPr>
        <p:spPr>
          <a:xfrm>
            <a:off x="4392295" y="5464810"/>
            <a:ext cx="13335" cy="356235"/>
          </a:xfrm>
          <a:prstGeom prst="line">
            <a:avLst/>
          </a:prstGeom>
          <a:ln w="11430">
            <a:solidFill>
              <a:srgbClr val="111111"/>
            </a:solidFill>
            <a:tailEnd type="triangle"/>
          </a:ln>
        </p:spPr>
      </p:cxnSp>
      <p:sp>
        <p:nvSpPr>
          <p:cNvPr id="178" name="Text 139"/>
          <p:cNvSpPr txBox="1"/>
          <p:nvPr/>
        </p:nvSpPr>
        <p:spPr>
          <a:xfrm>
            <a:off x="2545715" y="5565140"/>
            <a:ext cx="65836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altLang="en-US" sz="700">
                <a:solidFill>
                  <a:srgbClr val="111111"/>
                </a:solidFill>
                <a:latin typeface="Arial" panose="020B0604020202090204"/>
              </a:rPr>
              <a:t>日常</a:t>
            </a:r>
            <a:r>
              <a:rPr lang="zh-CN" altLang="en-US" sz="700">
                <a:solidFill>
                  <a:srgbClr val="111111"/>
                </a:solidFill>
                <a:latin typeface="Arial" panose="020B0604020202090204"/>
              </a:rPr>
              <a:t>模式</a:t>
            </a:r>
            <a:endParaRPr lang="zh-CN" altLang="en-US" sz="70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179" name="Text 139"/>
          <p:cNvSpPr txBox="1"/>
          <p:nvPr/>
        </p:nvSpPr>
        <p:spPr>
          <a:xfrm>
            <a:off x="4392295" y="5560695"/>
            <a:ext cx="65836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altLang="en-US" sz="700">
                <a:solidFill>
                  <a:srgbClr val="111111"/>
                </a:solidFill>
                <a:latin typeface="Arial" panose="020B0604020202090204"/>
              </a:rPr>
              <a:t>教学</a:t>
            </a:r>
            <a:r>
              <a:rPr lang="zh-CN" altLang="en-US" sz="700">
                <a:solidFill>
                  <a:srgbClr val="111111"/>
                </a:solidFill>
                <a:latin typeface="Arial" panose="020B0604020202090204"/>
              </a:rPr>
              <a:t>模式</a:t>
            </a:r>
            <a:endParaRPr lang="zh-CN" altLang="en-US" sz="700">
              <a:solidFill>
                <a:srgbClr val="111111"/>
              </a:solidFill>
              <a:latin typeface="Arial" panose="020B060402020209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dex Theme">
  <a:themeElements>
    <a:clrScheme name="Codex">
      <a:dk1>
        <a:srgbClr val="000000"/>
      </a:dk1>
      <a:lt1>
        <a:srgbClr val="FFFFFF"/>
      </a:lt1>
      <a:dk2>
        <a:srgbClr val="222222"/>
      </a:dk2>
      <a:lt2>
        <a:srgbClr val="F7F7F7"/>
      </a:lt2>
      <a:accent1>
        <a:srgbClr val="0072B2"/>
      </a:accent1>
      <a:accent2>
        <a:srgbClr val="D55E00"/>
      </a:accent2>
      <a:accent3>
        <a:srgbClr val="009E73"/>
      </a:accent3>
      <a:accent4>
        <a:srgbClr val="CC79A7"/>
      </a:accent4>
      <a:accent5>
        <a:srgbClr val="F0E442"/>
      </a:accent5>
      <a:accent6>
        <a:srgbClr val="56B4E9"/>
      </a:accent6>
      <a:hlink>
        <a:srgbClr val="0563C1"/>
      </a:hlink>
      <a:folHlink>
        <a:srgbClr val="954F72"/>
      </a:folHlink>
    </a:clrScheme>
    <a:fontScheme name="Codex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odex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  <a:ln/>
        <a:ln/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361</Words>
  <Application>WPS 文字</Application>
  <PresentationFormat>On-screen Show</PresentationFormat>
  <Paragraphs>125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3" baseType="lpstr">
      <vt:lpstr>Arial</vt:lpstr>
      <vt:lpstr>宋体</vt:lpstr>
      <vt:lpstr>Wingdings</vt:lpstr>
      <vt:lpstr>Arial</vt:lpstr>
      <vt:lpstr>宋体</vt:lpstr>
      <vt:lpstr>汉仪书宋二KW</vt:lpstr>
      <vt:lpstr>微软雅黑</vt:lpstr>
      <vt:lpstr>汉仪旗黑</vt:lpstr>
      <vt:lpstr>Arial Unicode MS</vt:lpstr>
      <vt:lpstr>Calibri</vt:lpstr>
      <vt:lpstr>Helvetica Neue</vt:lpstr>
      <vt:lpstr>Codex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CT-GraphMAS Business Swimlane Flowchart</dc:title>
  <dc:creator>Codex</dc:creator>
  <cp:lastModifiedBy>陆苏于</cp:lastModifiedBy>
  <cp:revision>26</cp:revision>
  <dcterms:created xsi:type="dcterms:W3CDTF">2026-05-18T04:43:23Z</dcterms:created>
  <dcterms:modified xsi:type="dcterms:W3CDTF">2026-05-18T04:43:23Z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7826D13FA3209DF657930A6A32E297D1_42</vt:lpwstr>
  </property>
  <property fmtid="{D5CDD505-2E9C-101B-9397-08002B2CF9AE}" pid="3" name="KSOProductBuildVer">
    <vt:lpwstr>2052-12.1.25205.25205</vt:lpwstr>
  </property>
</Properties>
</file>