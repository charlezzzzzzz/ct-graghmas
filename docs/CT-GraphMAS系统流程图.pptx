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sldIdLst>
    <p:sldId id="256" r:id="rId1"/>
    <p:sldId id="257" r:id="rId2"/>
  </p:sldIdLst>
  <p:sldSz cx="7562088" cy="10689336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47472" y="384048"/>
            <a:ext cx="6867144" cy="9921240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3" name="Line 3"/>
          <p:cNvCxnSpPr/>
          <p:nvPr/>
        </p:nvCxnSpPr>
        <p:spPr>
          <a:xfrm>
            <a:off x="347472" y="978408"/>
            <a:ext cx="6867144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347472" y="1444752"/>
            <a:ext cx="6867144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2636520" y="978408"/>
            <a:ext cx="1" cy="932688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4925568" y="978408"/>
            <a:ext cx="1" cy="932688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347472" y="493776"/>
            <a:ext cx="68671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200" b="1">
                <a:solidFill>
                  <a:srgbClr val="111111"/>
                </a:solidFill>
                <a:latin typeface="Arial"/>
              </a:rPr>
              <a:t>CT-GraphMAS 系统业务流程图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347472" y="1097280"/>
            <a:ext cx="22890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/>
              </a:rPr>
              <a:t>管理员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2636520" y="1097280"/>
            <a:ext cx="22890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/>
              </a:rPr>
              <a:t>学生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925568" y="1097280"/>
            <a:ext cx="22890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/>
              </a:rPr>
              <a:t>教师</a:t>
            </a:r>
          </a:p>
        </p:txBody>
      </p:sp>
      <p:sp>
        <p:nvSpPr>
          <p:cNvPr id="11" name="Shape 11"/>
          <p:cNvSpPr/>
          <p:nvPr/>
        </p:nvSpPr>
        <p:spPr>
          <a:xfrm>
            <a:off x="768096" y="1773936"/>
            <a:ext cx="144475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04672" y="182880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开始</a:t>
            </a:r>
          </a:p>
        </p:txBody>
      </p:sp>
      <p:sp>
        <p:nvSpPr>
          <p:cNvPr id="13" name="Shape 13"/>
          <p:cNvSpPr/>
          <p:nvPr/>
        </p:nvSpPr>
        <p:spPr>
          <a:xfrm>
            <a:off x="768096" y="2487168"/>
            <a:ext cx="1444752" cy="42062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804672" y="254203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输入管理员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账号密码</a:t>
            </a:r>
          </a:p>
        </p:txBody>
      </p:sp>
      <p:sp>
        <p:nvSpPr>
          <p:cNvPr id="15" name="Shape 15"/>
          <p:cNvSpPr/>
          <p:nvPr/>
        </p:nvSpPr>
        <p:spPr>
          <a:xfrm>
            <a:off x="896112" y="3200400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932688" y="325526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账号密码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是否正确</a:t>
            </a:r>
          </a:p>
        </p:txBody>
      </p:sp>
      <p:sp>
        <p:nvSpPr>
          <p:cNvPr id="17" name="Shape 17"/>
          <p:cNvSpPr/>
          <p:nvPr/>
        </p:nvSpPr>
        <p:spPr>
          <a:xfrm>
            <a:off x="768096" y="3968496"/>
            <a:ext cx="14447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04672" y="40233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维护用户角色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与班级信息</a:t>
            </a:r>
          </a:p>
        </p:txBody>
      </p:sp>
      <p:sp>
        <p:nvSpPr>
          <p:cNvPr id="19" name="Shape 19"/>
          <p:cNvSpPr/>
          <p:nvPr/>
        </p:nvSpPr>
        <p:spPr>
          <a:xfrm>
            <a:off x="768096" y="4700016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804672" y="4754880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配置 API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与多智能体策略</a:t>
            </a:r>
          </a:p>
        </p:txBody>
      </p:sp>
      <p:sp>
        <p:nvSpPr>
          <p:cNvPr id="21" name="Shape 21"/>
          <p:cNvSpPr/>
          <p:nvPr/>
        </p:nvSpPr>
        <p:spPr>
          <a:xfrm>
            <a:off x="768096" y="5504688"/>
            <a:ext cx="14447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04672" y="5559552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维护 145 节点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知识图谱</a:t>
            </a:r>
          </a:p>
        </p:txBody>
      </p:sp>
      <p:sp>
        <p:nvSpPr>
          <p:cNvPr id="23" name="Shape 23"/>
          <p:cNvSpPr/>
          <p:nvPr/>
        </p:nvSpPr>
        <p:spPr>
          <a:xfrm>
            <a:off x="768096" y="6327648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24" name="Polyline 24"/>
          <p:cNvCxnSpPr/>
          <p:nvPr/>
        </p:nvCxnSpPr>
        <p:spPr>
          <a:xfrm>
            <a:off x="786384" y="6711696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25" name="Polyline 25"/>
          <p:cNvCxnSpPr/>
          <p:nvPr/>
        </p:nvCxnSpPr>
        <p:spPr>
          <a:xfrm flipV="1">
            <a:off x="1129284" y="6675120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26" name="Polyline 26"/>
          <p:cNvCxnSpPr/>
          <p:nvPr/>
        </p:nvCxnSpPr>
        <p:spPr>
          <a:xfrm>
            <a:off x="1490472" y="6675120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27" name="Polyline 27"/>
          <p:cNvCxnSpPr/>
          <p:nvPr/>
        </p:nvCxnSpPr>
        <p:spPr>
          <a:xfrm flipV="1">
            <a:off x="1851660" y="6711696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sp>
        <p:nvSpPr>
          <p:cNvPr id="28" name="Text 28"/>
          <p:cNvSpPr txBox="1"/>
          <p:nvPr/>
        </p:nvSpPr>
        <p:spPr>
          <a:xfrm>
            <a:off x="804672" y="637336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系统配置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与账号信息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1490472" y="2176272"/>
            <a:ext cx="1" cy="31089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0" name="Line 30"/>
          <p:cNvCxnSpPr/>
          <p:nvPr/>
        </p:nvCxnSpPr>
        <p:spPr>
          <a:xfrm>
            <a:off x="1490472" y="2907792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1" name="Line 31"/>
          <p:cNvCxnSpPr/>
          <p:nvPr/>
        </p:nvCxnSpPr>
        <p:spPr>
          <a:xfrm>
            <a:off x="1490472" y="3730752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2" name="Line 32"/>
          <p:cNvCxnSpPr/>
          <p:nvPr/>
        </p:nvCxnSpPr>
        <p:spPr>
          <a:xfrm>
            <a:off x="1490472" y="4407408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3" name="Line 33"/>
          <p:cNvCxnSpPr/>
          <p:nvPr/>
        </p:nvCxnSpPr>
        <p:spPr>
          <a:xfrm>
            <a:off x="1490472" y="5175504"/>
            <a:ext cx="1" cy="32918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4" name="Line 34"/>
          <p:cNvCxnSpPr/>
          <p:nvPr/>
        </p:nvCxnSpPr>
        <p:spPr>
          <a:xfrm>
            <a:off x="1490472" y="6016752"/>
            <a:ext cx="1" cy="31089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5" name="Polyline 35"/>
          <p:cNvCxnSpPr/>
          <p:nvPr/>
        </p:nvCxnSpPr>
        <p:spPr>
          <a:xfrm>
            <a:off x="2212848" y="3465576"/>
            <a:ext cx="20116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36" name="Polyline 36"/>
          <p:cNvCxnSpPr/>
          <p:nvPr/>
        </p:nvCxnSpPr>
        <p:spPr>
          <a:xfrm flipV="1">
            <a:off x="2414016" y="2697480"/>
            <a:ext cx="1" cy="76809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37" name="Polyline 37"/>
          <p:cNvCxnSpPr/>
          <p:nvPr/>
        </p:nvCxnSpPr>
        <p:spPr>
          <a:xfrm flipH="1">
            <a:off x="2212848" y="2697480"/>
            <a:ext cx="201168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2359152" y="303580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否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563624" y="376732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是</a:t>
            </a:r>
          </a:p>
        </p:txBody>
      </p:sp>
      <p:sp>
        <p:nvSpPr>
          <p:cNvPr id="40" name="Shape 40"/>
          <p:cNvSpPr/>
          <p:nvPr/>
        </p:nvSpPr>
        <p:spPr>
          <a:xfrm>
            <a:off x="3057144" y="2487168"/>
            <a:ext cx="1444752" cy="42062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3093720" y="254203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输入学生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账号密码</a:t>
            </a:r>
          </a:p>
        </p:txBody>
      </p:sp>
      <p:sp>
        <p:nvSpPr>
          <p:cNvPr id="42" name="Shape 42"/>
          <p:cNvSpPr/>
          <p:nvPr/>
        </p:nvSpPr>
        <p:spPr>
          <a:xfrm>
            <a:off x="3185160" y="3200400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3221736" y="325526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账号密码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是否正确</a:t>
            </a:r>
          </a:p>
        </p:txBody>
      </p:sp>
      <p:sp>
        <p:nvSpPr>
          <p:cNvPr id="44" name="Shape 44"/>
          <p:cNvSpPr/>
          <p:nvPr/>
        </p:nvSpPr>
        <p:spPr>
          <a:xfrm>
            <a:off x="3057144" y="3968496"/>
            <a:ext cx="14447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3093720" y="40233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登录进入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学生端</a:t>
            </a:r>
          </a:p>
        </p:txBody>
      </p:sp>
      <p:sp>
        <p:nvSpPr>
          <p:cNvPr id="46" name="Shape 46"/>
          <p:cNvSpPr/>
          <p:nvPr/>
        </p:nvSpPr>
        <p:spPr>
          <a:xfrm>
            <a:off x="3057144" y="5358384"/>
            <a:ext cx="14447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47" name="Polyline 47"/>
          <p:cNvCxnSpPr/>
          <p:nvPr/>
        </p:nvCxnSpPr>
        <p:spPr>
          <a:xfrm>
            <a:off x="3075432" y="5760720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48" name="Polyline 48"/>
          <p:cNvCxnSpPr/>
          <p:nvPr/>
        </p:nvCxnSpPr>
        <p:spPr>
          <a:xfrm flipV="1">
            <a:off x="3418332" y="5724144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49" name="Polyline 49"/>
          <p:cNvCxnSpPr/>
          <p:nvPr/>
        </p:nvCxnSpPr>
        <p:spPr>
          <a:xfrm>
            <a:off x="3779520" y="5724144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50" name="Polyline 50"/>
          <p:cNvCxnSpPr/>
          <p:nvPr/>
        </p:nvCxnSpPr>
        <p:spPr>
          <a:xfrm flipV="1">
            <a:off x="4140708" y="5760720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sp>
        <p:nvSpPr>
          <p:cNvPr id="51" name="Text 51"/>
          <p:cNvSpPr txBox="1"/>
          <p:nvPr/>
        </p:nvSpPr>
        <p:spPr>
          <a:xfrm>
            <a:off x="3093720" y="540410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查看班级任务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与学习画像</a:t>
            </a:r>
          </a:p>
        </p:txBody>
      </p:sp>
      <p:sp>
        <p:nvSpPr>
          <p:cNvPr id="52" name="Shape 52"/>
          <p:cNvSpPr/>
          <p:nvPr/>
        </p:nvSpPr>
        <p:spPr>
          <a:xfrm>
            <a:off x="3166872" y="6053328"/>
            <a:ext cx="1225296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3203448" y="610819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选择日常通用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或教学模式</a:t>
            </a:r>
          </a:p>
        </p:txBody>
      </p:sp>
      <p:sp>
        <p:nvSpPr>
          <p:cNvPr id="54" name="Shape 54"/>
          <p:cNvSpPr/>
          <p:nvPr/>
        </p:nvSpPr>
        <p:spPr>
          <a:xfrm>
            <a:off x="3057144" y="6784848"/>
            <a:ext cx="1444752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3093720" y="6839712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输入问题 / 代码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或报错信息</a:t>
            </a:r>
          </a:p>
        </p:txBody>
      </p:sp>
      <p:sp>
        <p:nvSpPr>
          <p:cNvPr id="56" name="Shape 56"/>
          <p:cNvSpPr/>
          <p:nvPr/>
        </p:nvSpPr>
        <p:spPr>
          <a:xfrm>
            <a:off x="3057144" y="7461504"/>
            <a:ext cx="14447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3093720" y="7516368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系统自动处理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意图映射 + 2-hop 图谱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L1-L2-L3 + 门控</a:t>
            </a:r>
          </a:p>
        </p:txBody>
      </p:sp>
      <p:sp>
        <p:nvSpPr>
          <p:cNvPr id="58" name="Shape 58"/>
          <p:cNvSpPr/>
          <p:nvPr/>
        </p:nvSpPr>
        <p:spPr>
          <a:xfrm>
            <a:off x="3057144" y="8394192"/>
            <a:ext cx="14447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59" name="Polyline 59"/>
          <p:cNvCxnSpPr/>
          <p:nvPr/>
        </p:nvCxnSpPr>
        <p:spPr>
          <a:xfrm>
            <a:off x="3075432" y="8833104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60" name="Polyline 60"/>
          <p:cNvCxnSpPr/>
          <p:nvPr/>
        </p:nvCxnSpPr>
        <p:spPr>
          <a:xfrm flipV="1">
            <a:off x="3418332" y="8796528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61" name="Polyline 61"/>
          <p:cNvCxnSpPr/>
          <p:nvPr/>
        </p:nvCxnSpPr>
        <p:spPr>
          <a:xfrm>
            <a:off x="3779520" y="8796528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62" name="Polyline 62"/>
          <p:cNvCxnSpPr/>
          <p:nvPr/>
        </p:nvCxnSpPr>
        <p:spPr>
          <a:xfrm flipV="1">
            <a:off x="4140708" y="8833104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sp>
        <p:nvSpPr>
          <p:cNvPr id="63" name="Text 63"/>
          <p:cNvSpPr txBox="1"/>
          <p:nvPr/>
        </p:nvSpPr>
        <p:spPr>
          <a:xfrm>
            <a:off x="3093720" y="843991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查看反馈、相关知识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与图谱节点</a:t>
            </a:r>
          </a:p>
        </p:txBody>
      </p:sp>
      <p:sp>
        <p:nvSpPr>
          <p:cNvPr id="64" name="Shape 64"/>
          <p:cNvSpPr/>
          <p:nvPr/>
        </p:nvSpPr>
        <p:spPr>
          <a:xfrm>
            <a:off x="3185160" y="9107424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3221736" y="9162288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问题是否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已解决</a:t>
            </a:r>
          </a:p>
        </p:txBody>
      </p:sp>
      <p:sp>
        <p:nvSpPr>
          <p:cNvPr id="66" name="Shape 66"/>
          <p:cNvSpPr/>
          <p:nvPr/>
        </p:nvSpPr>
        <p:spPr>
          <a:xfrm>
            <a:off x="3057144" y="9710928"/>
            <a:ext cx="14447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3093720" y="976579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完成任务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或继续练习</a:t>
            </a:r>
          </a:p>
        </p:txBody>
      </p:sp>
      <p:sp>
        <p:nvSpPr>
          <p:cNvPr id="68" name="Shape 68"/>
          <p:cNvSpPr/>
          <p:nvPr/>
        </p:nvSpPr>
        <p:spPr>
          <a:xfrm>
            <a:off x="3057144" y="10241280"/>
            <a:ext cx="14447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3093720" y="1029614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结束</a:t>
            </a:r>
          </a:p>
        </p:txBody>
      </p:sp>
      <p:cxnSp>
        <p:nvCxnSpPr>
          <p:cNvPr id="70" name="Line 70"/>
          <p:cNvCxnSpPr/>
          <p:nvPr/>
        </p:nvCxnSpPr>
        <p:spPr>
          <a:xfrm>
            <a:off x="3779520" y="2907792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1" name="Line 71"/>
          <p:cNvCxnSpPr/>
          <p:nvPr/>
        </p:nvCxnSpPr>
        <p:spPr>
          <a:xfrm>
            <a:off x="3779520" y="3730752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2" name="Line 72"/>
          <p:cNvCxnSpPr/>
          <p:nvPr/>
        </p:nvCxnSpPr>
        <p:spPr>
          <a:xfrm>
            <a:off x="3779520" y="4407408"/>
            <a:ext cx="1" cy="95097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3" name="Line 73"/>
          <p:cNvCxnSpPr/>
          <p:nvPr/>
        </p:nvCxnSpPr>
        <p:spPr>
          <a:xfrm>
            <a:off x="3779520" y="5852160"/>
            <a:ext cx="1" cy="20116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4" name="Line 74"/>
          <p:cNvCxnSpPr/>
          <p:nvPr/>
        </p:nvCxnSpPr>
        <p:spPr>
          <a:xfrm>
            <a:off x="3779520" y="6620256"/>
            <a:ext cx="1" cy="164592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5" name="Line 75"/>
          <p:cNvCxnSpPr/>
          <p:nvPr/>
        </p:nvCxnSpPr>
        <p:spPr>
          <a:xfrm>
            <a:off x="3779520" y="7260336"/>
            <a:ext cx="1" cy="20116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6" name="Line 76"/>
          <p:cNvCxnSpPr/>
          <p:nvPr/>
        </p:nvCxnSpPr>
        <p:spPr>
          <a:xfrm>
            <a:off x="3779520" y="8138160"/>
            <a:ext cx="1" cy="256032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7" name="Line 77"/>
          <p:cNvCxnSpPr/>
          <p:nvPr/>
        </p:nvCxnSpPr>
        <p:spPr>
          <a:xfrm>
            <a:off x="3779520" y="8924544"/>
            <a:ext cx="1" cy="18288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8" name="Line 78"/>
          <p:cNvCxnSpPr/>
          <p:nvPr/>
        </p:nvCxnSpPr>
        <p:spPr>
          <a:xfrm>
            <a:off x="3779520" y="9637776"/>
            <a:ext cx="1" cy="73152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9" name="Line 79"/>
          <p:cNvCxnSpPr/>
          <p:nvPr/>
        </p:nvCxnSpPr>
        <p:spPr>
          <a:xfrm>
            <a:off x="3779520" y="10113264"/>
            <a:ext cx="1" cy="12801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80" name="Polyline 80"/>
          <p:cNvCxnSpPr/>
          <p:nvPr/>
        </p:nvCxnSpPr>
        <p:spPr>
          <a:xfrm>
            <a:off x="4501896" y="3465576"/>
            <a:ext cx="20116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1" name="Polyline 81"/>
          <p:cNvCxnSpPr/>
          <p:nvPr/>
        </p:nvCxnSpPr>
        <p:spPr>
          <a:xfrm flipV="1">
            <a:off x="4703064" y="2697480"/>
            <a:ext cx="1" cy="76809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2" name="Polyline 82"/>
          <p:cNvCxnSpPr/>
          <p:nvPr/>
        </p:nvCxnSpPr>
        <p:spPr>
          <a:xfrm flipH="1">
            <a:off x="4501896" y="2697480"/>
            <a:ext cx="201168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83" name="Text 83"/>
          <p:cNvSpPr txBox="1"/>
          <p:nvPr/>
        </p:nvSpPr>
        <p:spPr>
          <a:xfrm>
            <a:off x="4648200" y="303580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否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3852672" y="376732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是</a:t>
            </a:r>
          </a:p>
        </p:txBody>
      </p:sp>
      <p:cxnSp>
        <p:nvCxnSpPr>
          <p:cNvPr id="85" name="Polyline 85"/>
          <p:cNvCxnSpPr/>
          <p:nvPr/>
        </p:nvCxnSpPr>
        <p:spPr>
          <a:xfrm flipH="1">
            <a:off x="2874264" y="9372600"/>
            <a:ext cx="182880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6" name="Polyline 86"/>
          <p:cNvCxnSpPr/>
          <p:nvPr/>
        </p:nvCxnSpPr>
        <p:spPr>
          <a:xfrm flipV="1">
            <a:off x="2874264" y="7022592"/>
            <a:ext cx="1" cy="2350008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7" name="Polyline 87"/>
          <p:cNvCxnSpPr/>
          <p:nvPr/>
        </p:nvCxnSpPr>
        <p:spPr>
          <a:xfrm>
            <a:off x="2874264" y="7022592"/>
            <a:ext cx="182880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88" name="Text 88"/>
          <p:cNvSpPr txBox="1"/>
          <p:nvPr/>
        </p:nvSpPr>
        <p:spPr>
          <a:xfrm>
            <a:off x="2746248" y="919886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否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3852672" y="9674352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是</a:t>
            </a:r>
          </a:p>
        </p:txBody>
      </p:sp>
      <p:sp>
        <p:nvSpPr>
          <p:cNvPr id="90" name="Shape 90"/>
          <p:cNvSpPr/>
          <p:nvPr/>
        </p:nvSpPr>
        <p:spPr>
          <a:xfrm>
            <a:off x="5346192" y="2487168"/>
            <a:ext cx="1444752" cy="42062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1" name="Text 91"/>
          <p:cNvSpPr txBox="1"/>
          <p:nvPr/>
        </p:nvSpPr>
        <p:spPr>
          <a:xfrm>
            <a:off x="5382768" y="254203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输入教师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账号密码</a:t>
            </a:r>
          </a:p>
        </p:txBody>
      </p:sp>
      <p:sp>
        <p:nvSpPr>
          <p:cNvPr id="92" name="Shape 92"/>
          <p:cNvSpPr/>
          <p:nvPr/>
        </p:nvSpPr>
        <p:spPr>
          <a:xfrm>
            <a:off x="5474208" y="3200400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3" name="Text 93"/>
          <p:cNvSpPr txBox="1"/>
          <p:nvPr/>
        </p:nvSpPr>
        <p:spPr>
          <a:xfrm>
            <a:off x="5510784" y="325526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账号密码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是否正确</a:t>
            </a:r>
          </a:p>
        </p:txBody>
      </p:sp>
      <p:sp>
        <p:nvSpPr>
          <p:cNvPr id="94" name="Shape 94"/>
          <p:cNvSpPr/>
          <p:nvPr/>
        </p:nvSpPr>
        <p:spPr>
          <a:xfrm>
            <a:off x="5346192" y="3968496"/>
            <a:ext cx="14447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5382768" y="40233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登录进入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教师端</a:t>
            </a:r>
          </a:p>
        </p:txBody>
      </p:sp>
      <p:sp>
        <p:nvSpPr>
          <p:cNvPr id="96" name="Shape 96"/>
          <p:cNvSpPr/>
          <p:nvPr/>
        </p:nvSpPr>
        <p:spPr>
          <a:xfrm>
            <a:off x="5346192" y="4663440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7" name="Text 97"/>
          <p:cNvSpPr txBox="1"/>
          <p:nvPr/>
        </p:nvSpPr>
        <p:spPr>
          <a:xfrm>
            <a:off x="5382768" y="471830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分配班级任务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与教学流程</a:t>
            </a:r>
          </a:p>
        </p:txBody>
      </p:sp>
      <p:sp>
        <p:nvSpPr>
          <p:cNvPr id="98" name="Shape 98"/>
          <p:cNvSpPr/>
          <p:nvPr/>
        </p:nvSpPr>
        <p:spPr>
          <a:xfrm>
            <a:off x="5346192" y="5358384"/>
            <a:ext cx="14447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99" name="Polyline 99"/>
          <p:cNvCxnSpPr/>
          <p:nvPr/>
        </p:nvCxnSpPr>
        <p:spPr>
          <a:xfrm>
            <a:off x="5364480" y="5760720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00" name="Polyline 100"/>
          <p:cNvCxnSpPr/>
          <p:nvPr/>
        </p:nvCxnSpPr>
        <p:spPr>
          <a:xfrm flipV="1">
            <a:off x="5707380" y="5724144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01" name="Polyline 101"/>
          <p:cNvCxnSpPr/>
          <p:nvPr/>
        </p:nvCxnSpPr>
        <p:spPr>
          <a:xfrm>
            <a:off x="6068568" y="5724144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02" name="Polyline 102"/>
          <p:cNvCxnSpPr/>
          <p:nvPr/>
        </p:nvCxnSpPr>
        <p:spPr>
          <a:xfrm flipV="1">
            <a:off x="6429756" y="5760720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sp>
        <p:nvSpPr>
          <p:cNvPr id="103" name="Text 103"/>
          <p:cNvSpPr txBox="1"/>
          <p:nvPr/>
        </p:nvSpPr>
        <p:spPr>
          <a:xfrm>
            <a:off x="5382768" y="540410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班级任务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与课程资料</a:t>
            </a:r>
          </a:p>
        </p:txBody>
      </p:sp>
      <p:sp>
        <p:nvSpPr>
          <p:cNvPr id="104" name="Shape 104"/>
          <p:cNvSpPr/>
          <p:nvPr/>
        </p:nvSpPr>
        <p:spPr>
          <a:xfrm>
            <a:off x="5346192" y="6089904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05" name="Text 105"/>
          <p:cNvSpPr txBox="1"/>
          <p:nvPr/>
        </p:nvSpPr>
        <p:spPr>
          <a:xfrm>
            <a:off x="5382768" y="61447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上传教学材料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或课堂案例</a:t>
            </a:r>
          </a:p>
        </p:txBody>
      </p:sp>
      <p:sp>
        <p:nvSpPr>
          <p:cNvPr id="106" name="Shape 106"/>
          <p:cNvSpPr/>
          <p:nvPr/>
        </p:nvSpPr>
        <p:spPr>
          <a:xfrm>
            <a:off x="5346192" y="6784848"/>
            <a:ext cx="14447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107" name="Polyline 107"/>
          <p:cNvCxnSpPr/>
          <p:nvPr/>
        </p:nvCxnSpPr>
        <p:spPr>
          <a:xfrm>
            <a:off x="5364480" y="7187184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08" name="Polyline 108"/>
          <p:cNvCxnSpPr/>
          <p:nvPr/>
        </p:nvCxnSpPr>
        <p:spPr>
          <a:xfrm flipV="1">
            <a:off x="5707380" y="7150608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09" name="Polyline 109"/>
          <p:cNvCxnSpPr/>
          <p:nvPr/>
        </p:nvCxnSpPr>
        <p:spPr>
          <a:xfrm>
            <a:off x="6068568" y="7150608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10" name="Polyline 110"/>
          <p:cNvCxnSpPr/>
          <p:nvPr/>
        </p:nvCxnSpPr>
        <p:spPr>
          <a:xfrm flipV="1">
            <a:off x="6429756" y="7187184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sp>
        <p:nvSpPr>
          <p:cNvPr id="111" name="Text 111"/>
          <p:cNvSpPr txBox="1"/>
          <p:nvPr/>
        </p:nvSpPr>
        <p:spPr>
          <a:xfrm>
            <a:off x="5382768" y="683056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相关知识切分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Embedding 入库</a:t>
            </a:r>
          </a:p>
        </p:txBody>
      </p:sp>
      <p:sp>
        <p:nvSpPr>
          <p:cNvPr id="112" name="Shape 112"/>
          <p:cNvSpPr/>
          <p:nvPr/>
        </p:nvSpPr>
        <p:spPr>
          <a:xfrm>
            <a:off x="5346192" y="8394192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113" name="Polyline 113"/>
          <p:cNvCxnSpPr/>
          <p:nvPr/>
        </p:nvCxnSpPr>
        <p:spPr>
          <a:xfrm>
            <a:off x="5364480" y="8759952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14" name="Polyline 114"/>
          <p:cNvCxnSpPr/>
          <p:nvPr/>
        </p:nvCxnSpPr>
        <p:spPr>
          <a:xfrm flipV="1">
            <a:off x="5707380" y="8723376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15" name="Polyline 115"/>
          <p:cNvCxnSpPr/>
          <p:nvPr/>
        </p:nvCxnSpPr>
        <p:spPr>
          <a:xfrm>
            <a:off x="6068568" y="8723376"/>
            <a:ext cx="361188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116" name="Polyline 116"/>
          <p:cNvCxnSpPr/>
          <p:nvPr/>
        </p:nvCxnSpPr>
        <p:spPr>
          <a:xfrm flipV="1">
            <a:off x="6429756" y="8759952"/>
            <a:ext cx="342900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sp>
        <p:nvSpPr>
          <p:cNvPr id="117" name="Text 117"/>
          <p:cNvSpPr txBox="1"/>
          <p:nvPr/>
        </p:nvSpPr>
        <p:spPr>
          <a:xfrm>
            <a:off x="5382768" y="843991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收到学生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交互记录</a:t>
            </a:r>
          </a:p>
        </p:txBody>
      </p:sp>
      <p:sp>
        <p:nvSpPr>
          <p:cNvPr id="118" name="Shape 118"/>
          <p:cNvSpPr/>
          <p:nvPr/>
        </p:nvSpPr>
        <p:spPr>
          <a:xfrm>
            <a:off x="5346192" y="9015984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19" name="Text 119"/>
          <p:cNvSpPr txBox="1"/>
          <p:nvPr/>
        </p:nvSpPr>
        <p:spPr>
          <a:xfrm>
            <a:off x="5382768" y="90708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查看学情图谱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与门控日志</a:t>
            </a:r>
          </a:p>
        </p:txBody>
      </p:sp>
      <p:sp>
        <p:nvSpPr>
          <p:cNvPr id="120" name="Shape 120"/>
          <p:cNvSpPr/>
          <p:nvPr/>
        </p:nvSpPr>
        <p:spPr>
          <a:xfrm>
            <a:off x="5346192" y="9674352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21" name="Text 121"/>
          <p:cNvSpPr txBox="1"/>
          <p:nvPr/>
        </p:nvSpPr>
        <p:spPr>
          <a:xfrm>
            <a:off x="5382768" y="972921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调整任务、知识库</a:t>
            </a:r>
          </a:p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>或提示词配置</a:t>
            </a:r>
          </a:p>
        </p:txBody>
      </p:sp>
      <p:cxnSp>
        <p:nvCxnSpPr>
          <p:cNvPr id="122" name="Line 122"/>
          <p:cNvCxnSpPr/>
          <p:nvPr/>
        </p:nvCxnSpPr>
        <p:spPr>
          <a:xfrm>
            <a:off x="6068568" y="2907792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3" name="Line 123"/>
          <p:cNvCxnSpPr/>
          <p:nvPr/>
        </p:nvCxnSpPr>
        <p:spPr>
          <a:xfrm>
            <a:off x="6068568" y="3730752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4" name="Line 124"/>
          <p:cNvCxnSpPr/>
          <p:nvPr/>
        </p:nvCxnSpPr>
        <p:spPr>
          <a:xfrm>
            <a:off x="6068568" y="4407408"/>
            <a:ext cx="1" cy="256032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5" name="Line 125"/>
          <p:cNvCxnSpPr/>
          <p:nvPr/>
        </p:nvCxnSpPr>
        <p:spPr>
          <a:xfrm>
            <a:off x="6068568" y="5120640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6" name="Line 126"/>
          <p:cNvCxnSpPr/>
          <p:nvPr/>
        </p:nvCxnSpPr>
        <p:spPr>
          <a:xfrm>
            <a:off x="6068568" y="5852160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7" name="Line 127"/>
          <p:cNvCxnSpPr/>
          <p:nvPr/>
        </p:nvCxnSpPr>
        <p:spPr>
          <a:xfrm>
            <a:off x="6068568" y="6547104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8" name="Line 128"/>
          <p:cNvCxnSpPr/>
          <p:nvPr/>
        </p:nvCxnSpPr>
        <p:spPr>
          <a:xfrm>
            <a:off x="6068568" y="7278624"/>
            <a:ext cx="1" cy="111556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9" name="Line 129"/>
          <p:cNvCxnSpPr/>
          <p:nvPr/>
        </p:nvCxnSpPr>
        <p:spPr>
          <a:xfrm>
            <a:off x="6068568" y="8851392"/>
            <a:ext cx="1" cy="164592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30" name="Line 130"/>
          <p:cNvCxnSpPr/>
          <p:nvPr/>
        </p:nvCxnSpPr>
        <p:spPr>
          <a:xfrm>
            <a:off x="6068568" y="9473184"/>
            <a:ext cx="1" cy="20116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31" name="Polyline 131"/>
          <p:cNvCxnSpPr/>
          <p:nvPr/>
        </p:nvCxnSpPr>
        <p:spPr>
          <a:xfrm>
            <a:off x="6790944" y="3465576"/>
            <a:ext cx="182880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32" name="Polyline 132"/>
          <p:cNvCxnSpPr/>
          <p:nvPr/>
        </p:nvCxnSpPr>
        <p:spPr>
          <a:xfrm flipV="1">
            <a:off x="6973824" y="2697480"/>
            <a:ext cx="1" cy="76809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33" name="Polyline 133"/>
          <p:cNvCxnSpPr/>
          <p:nvPr/>
        </p:nvCxnSpPr>
        <p:spPr>
          <a:xfrm flipH="1">
            <a:off x="6790944" y="2697480"/>
            <a:ext cx="182880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34" name="Text 134"/>
          <p:cNvSpPr txBox="1"/>
          <p:nvPr/>
        </p:nvSpPr>
        <p:spPr>
          <a:xfrm>
            <a:off x="6900672" y="303580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否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6141720" y="376732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/>
              </a:rPr>
              <a:t>是</a:t>
            </a:r>
          </a:p>
        </p:txBody>
      </p:sp>
      <p:cxnSp>
        <p:nvCxnSpPr>
          <p:cNvPr id="136" name="Line 136"/>
          <p:cNvCxnSpPr/>
          <p:nvPr/>
        </p:nvCxnSpPr>
        <p:spPr>
          <a:xfrm flipH="1">
            <a:off x="4501896" y="5605272"/>
            <a:ext cx="844296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37" name="Text 137"/>
          <p:cNvSpPr txBox="1"/>
          <p:nvPr/>
        </p:nvSpPr>
        <p:spPr>
          <a:xfrm>
            <a:off x="4645152" y="5431536"/>
            <a:ext cx="4937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00">
                <a:solidFill>
                  <a:srgbClr val="111111"/>
                </a:solidFill>
                <a:latin typeface="Arial"/>
              </a:rPr>
              <a:t>发布</a:t>
            </a:r>
          </a:p>
        </p:txBody>
      </p:sp>
      <p:cxnSp>
        <p:nvCxnSpPr>
          <p:cNvPr id="138" name="Line 138"/>
          <p:cNvCxnSpPr/>
          <p:nvPr/>
        </p:nvCxnSpPr>
        <p:spPr>
          <a:xfrm flipV="1">
            <a:off x="4501896" y="8622792"/>
            <a:ext cx="844296" cy="3657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39" name="Text 139"/>
          <p:cNvSpPr txBox="1"/>
          <p:nvPr/>
        </p:nvSpPr>
        <p:spPr>
          <a:xfrm>
            <a:off x="4480560" y="8458200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00">
                <a:solidFill>
                  <a:srgbClr val="111111"/>
                </a:solidFill>
                <a:latin typeface="Arial"/>
              </a:rPr>
              <a:t>学习记录</a:t>
            </a:r>
          </a:p>
        </p:txBody>
      </p:sp>
      <p:cxnSp>
        <p:nvCxnSpPr>
          <p:cNvPr id="140" name="Polyline 140"/>
          <p:cNvCxnSpPr/>
          <p:nvPr/>
        </p:nvCxnSpPr>
        <p:spPr>
          <a:xfrm>
            <a:off x="6068568" y="10131552"/>
            <a:ext cx="1" cy="201168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41" name="Polyline 141"/>
          <p:cNvCxnSpPr/>
          <p:nvPr/>
        </p:nvCxnSpPr>
        <p:spPr>
          <a:xfrm flipH="1">
            <a:off x="5102352" y="10332720"/>
            <a:ext cx="966216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42" name="Polyline 142"/>
          <p:cNvCxnSpPr/>
          <p:nvPr/>
        </p:nvCxnSpPr>
        <p:spPr>
          <a:xfrm flipV="1">
            <a:off x="5102352" y="4892040"/>
            <a:ext cx="1" cy="544068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43" name="Polyline 143"/>
          <p:cNvCxnSpPr/>
          <p:nvPr/>
        </p:nvCxnSpPr>
        <p:spPr>
          <a:xfrm>
            <a:off x="5102352" y="4892040"/>
            <a:ext cx="243840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44" name="Text 144"/>
          <p:cNvSpPr txBox="1"/>
          <p:nvPr/>
        </p:nvSpPr>
        <p:spPr>
          <a:xfrm>
            <a:off x="5596128" y="10168128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700">
                <a:solidFill>
                  <a:srgbClr val="111111"/>
                </a:solidFill>
                <a:latin typeface="Arial"/>
              </a:rPr>
              <a:t>迭代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502920"/>
            <a:ext cx="6537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2000" b="1">
                <a:solidFill>
                  <a:srgbClr val="111111"/>
                </a:solidFill>
                <a:latin typeface="Arial"/>
              </a:rPr>
              <a:t>流程图各个符号的含义</a:t>
            </a:r>
          </a:p>
        </p:txBody>
      </p:sp>
      <p:sp>
        <p:nvSpPr>
          <p:cNvPr id="3" name="Shape 3"/>
          <p:cNvSpPr/>
          <p:nvPr/>
        </p:nvSpPr>
        <p:spPr>
          <a:xfrm>
            <a:off x="621792" y="1325880"/>
            <a:ext cx="6327648" cy="696772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2267712" y="1325880"/>
            <a:ext cx="1" cy="524865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4069080" y="1325880"/>
            <a:ext cx="1" cy="524865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621792" y="2075688"/>
            <a:ext cx="632764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621792" y="2825496"/>
            <a:ext cx="632764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621792" y="3575304"/>
            <a:ext cx="632764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621792" y="4325112"/>
            <a:ext cx="632764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21792" y="5074920"/>
            <a:ext cx="632764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21792" y="5824728"/>
            <a:ext cx="632764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621792" y="6574536"/>
            <a:ext cx="6327648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621792" y="15270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/>
              </a:rPr>
              <a:t>名称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267712" y="1527048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/>
              </a:rPr>
              <a:t>符号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069080" y="1527048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/>
              </a:rPr>
              <a:t>解释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94944" y="2295144"/>
            <a:ext cx="14996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 b="1">
                <a:solidFill>
                  <a:srgbClr val="111111"/>
                </a:solidFill>
                <a:latin typeface="Arial"/>
              </a:rPr>
              <a:t>起止框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142232" y="2295144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>
                <a:solidFill>
                  <a:srgbClr val="111111"/>
                </a:solidFill>
                <a:latin typeface="Arial"/>
              </a:rPr>
              <a:t>表示流程的开始或者结束</a:t>
            </a:r>
          </a:p>
        </p:txBody>
      </p:sp>
      <p:sp>
        <p:nvSpPr>
          <p:cNvPr id="18" name="Shape 18"/>
          <p:cNvSpPr/>
          <p:nvPr/>
        </p:nvSpPr>
        <p:spPr>
          <a:xfrm>
            <a:off x="2834640" y="2258568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2871216" y="2313432"/>
            <a:ext cx="58521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94944" y="3044952"/>
            <a:ext cx="14996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 b="1">
                <a:solidFill>
                  <a:srgbClr val="111111"/>
                </a:solidFill>
                <a:latin typeface="Arial"/>
              </a:rPr>
              <a:t>处理框（矩形）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142232" y="3044952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>
                <a:solidFill>
                  <a:srgbClr val="111111"/>
                </a:solidFill>
                <a:latin typeface="Arial"/>
              </a:rPr>
              <a:t>代表一个特定的操作、步骤或处理动作</a:t>
            </a:r>
          </a:p>
        </p:txBody>
      </p:sp>
      <p:sp>
        <p:nvSpPr>
          <p:cNvPr id="22" name="Shape 22"/>
          <p:cNvSpPr/>
          <p:nvPr/>
        </p:nvSpPr>
        <p:spPr>
          <a:xfrm>
            <a:off x="2834640" y="3008376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2871216" y="3063240"/>
            <a:ext cx="58521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94944" y="3794760"/>
            <a:ext cx="14996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 b="1">
                <a:solidFill>
                  <a:srgbClr val="111111"/>
                </a:solidFill>
                <a:latin typeface="Arial"/>
              </a:rPr>
              <a:t>判断框（菱形）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142232" y="3794760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>
                <a:solidFill>
                  <a:srgbClr val="111111"/>
                </a:solidFill>
                <a:latin typeface="Arial"/>
              </a:rPr>
              <a:t>表示过程中的判断内容，用于决定流程走向</a:t>
            </a:r>
          </a:p>
        </p:txBody>
      </p:sp>
      <p:sp>
        <p:nvSpPr>
          <p:cNvPr id="26" name="Shape 26"/>
          <p:cNvSpPr/>
          <p:nvPr/>
        </p:nvSpPr>
        <p:spPr>
          <a:xfrm>
            <a:off x="2834640" y="3758184"/>
            <a:ext cx="658368" cy="38404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2871216" y="3813048"/>
            <a:ext cx="58521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" y="4544568"/>
            <a:ext cx="14996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 b="1">
                <a:solidFill>
                  <a:srgbClr val="111111"/>
                </a:solidFill>
                <a:latin typeface="Arial"/>
              </a:rPr>
              <a:t>输入/输出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142232" y="4544568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>
                <a:solidFill>
                  <a:srgbClr val="111111"/>
                </a:solidFill>
                <a:latin typeface="Arial"/>
              </a:rPr>
              <a:t>表示输入数据、输出结果或用户提交的信息</a:t>
            </a:r>
          </a:p>
        </p:txBody>
      </p:sp>
      <p:sp>
        <p:nvSpPr>
          <p:cNvPr id="30" name="Shape 30"/>
          <p:cNvSpPr/>
          <p:nvPr/>
        </p:nvSpPr>
        <p:spPr>
          <a:xfrm>
            <a:off x="2834640" y="4507992"/>
            <a:ext cx="658368" cy="38404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2871216" y="4562856"/>
            <a:ext cx="58521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94944" y="5294376"/>
            <a:ext cx="14996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 b="1">
                <a:solidFill>
                  <a:srgbClr val="111111"/>
                </a:solidFill>
                <a:latin typeface="Arial"/>
              </a:rPr>
              <a:t>文档框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142232" y="5294376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>
                <a:solidFill>
                  <a:srgbClr val="111111"/>
                </a:solidFill>
                <a:latin typeface="Arial"/>
              </a:rPr>
              <a:t>表示过程中的任务单、配置、相关知识或记录文件</a:t>
            </a:r>
          </a:p>
        </p:txBody>
      </p:sp>
      <p:sp>
        <p:nvSpPr>
          <p:cNvPr id="34" name="Shape 34"/>
          <p:cNvSpPr/>
          <p:nvPr/>
        </p:nvSpPr>
        <p:spPr>
          <a:xfrm>
            <a:off x="2834640" y="5257800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35" name="Polyline 35"/>
          <p:cNvCxnSpPr/>
          <p:nvPr/>
        </p:nvCxnSpPr>
        <p:spPr>
          <a:xfrm>
            <a:off x="2852928" y="5550408"/>
            <a:ext cx="146304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36" name="Polyline 36"/>
          <p:cNvCxnSpPr/>
          <p:nvPr/>
        </p:nvCxnSpPr>
        <p:spPr>
          <a:xfrm flipV="1">
            <a:off x="2999232" y="5513832"/>
            <a:ext cx="164592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37" name="Polyline 37"/>
          <p:cNvCxnSpPr/>
          <p:nvPr/>
        </p:nvCxnSpPr>
        <p:spPr>
          <a:xfrm>
            <a:off x="3163824" y="5513832"/>
            <a:ext cx="164592" cy="109728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cxnSp>
        <p:nvCxnSpPr>
          <p:cNvPr id="38" name="Polyline 38"/>
          <p:cNvCxnSpPr/>
          <p:nvPr/>
        </p:nvCxnSpPr>
        <p:spPr>
          <a:xfrm flipV="1">
            <a:off x="3328416" y="5550408"/>
            <a:ext cx="146304" cy="73152"/>
          </a:xfrm>
          <a:prstGeom prst="line">
            <a:avLst/>
          </a:prstGeom>
          <a:ln w="10160">
            <a:solidFill>
              <a:srgbClr val="111111"/>
            </a:solidFill>
          </a:ln>
        </p:spPr>
      </p:cxnSp>
      <p:sp>
        <p:nvSpPr>
          <p:cNvPr id="39" name="Text 39"/>
          <p:cNvSpPr txBox="1"/>
          <p:nvPr/>
        </p:nvSpPr>
        <p:spPr>
          <a:xfrm>
            <a:off x="2871216" y="5303520"/>
            <a:ext cx="5852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94944" y="6044184"/>
            <a:ext cx="14996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 b="1">
                <a:solidFill>
                  <a:srgbClr val="111111"/>
                </a:solidFill>
                <a:latin typeface="Arial"/>
              </a:rPr>
              <a:t>流程线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4142232" y="6044184"/>
            <a:ext cx="2734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900">
                <a:solidFill>
                  <a:srgbClr val="111111"/>
                </a:solidFill>
                <a:latin typeface="Arial"/>
              </a:rPr>
              <a:t>用于表示流程的具体走向</a:t>
            </a:r>
          </a:p>
        </p:txBody>
      </p:sp>
      <p:cxnSp>
        <p:nvCxnSpPr>
          <p:cNvPr id="42" name="Line 42"/>
          <p:cNvCxnSpPr/>
          <p:nvPr/>
        </p:nvCxnSpPr>
        <p:spPr>
          <a:xfrm>
            <a:off x="2770632" y="6199632"/>
            <a:ext cx="777240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000000"/>
      </a:dk1>
      <a:lt1>
        <a:srgbClr val="FFFFFF"/>
      </a:lt1>
      <a:dk2>
        <a:srgbClr val="222222"/>
      </a:dk2>
      <a:lt2>
        <a:srgbClr val="F7F7F7"/>
      </a:lt2>
      <a:accent1>
        <a:srgbClr val="0072B2"/>
      </a:accent1>
      <a:accent2>
        <a:srgbClr val="D55E00"/>
      </a:accent2>
      <a:accent3>
        <a:srgbClr val="009E73"/>
      </a:accent3>
      <a:accent4>
        <a:srgbClr val="CC79A7"/>
      </a:accent4>
      <a:accent5>
        <a:srgbClr val="F0E442"/>
      </a:accent5>
      <a:accent6>
        <a:srgbClr val="56B4E9"/>
      </a:accent6>
      <a:hlink>
        <a:srgbClr val="0563C1"/>
      </a:hlink>
      <a:folHlink>
        <a:srgbClr val="954F72"/>
      </a:folHlink>
    </a:clrScheme>
    <a:fontScheme name="Codex">
      <a:majorFont>
        <a:latin typeface="Arial"/>
      </a:majorFont>
      <a:minorFont>
        <a:latin typeface="Arial"/>
      </a:minorFont>
    </a:fontScheme>
    <a:fmtScheme name="Co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Editable PPTX</Application>
  <PresentationFormat>On-screen Show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CT-GraphMAS Business Swimlane Flowchart</dc:title>
  <dc:creator>Codex</dc:creator>
  <cp:lastModifiedBy>Codex</cp:lastModifiedBy>
  <dcterms:created xsi:type="dcterms:W3CDTF">2026-05-18T01:45:35Z</dcterms:created>
  <dcterms:modified xsi:type="dcterms:W3CDTF">2026-05-18T01:45:35Z</dcterms:modified>
</cp:coreProperties>
</file>